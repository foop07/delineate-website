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60.jpg" ContentType="image/jpg"/>
  <Override PartName="/ppt/media/image61.jpg" ContentType="image/jpg"/>
  <Override PartName="/ppt/media/image62.jpg" ContentType="image/jpg"/>
  <Override PartName="/ppt/media/image63.jpg" ContentType="image/jpg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  <p:sldId id="282" r:id="rId3"/>
    <p:sldId id="280" r:id="rId4"/>
    <p:sldId id="263" r:id="rId5"/>
    <p:sldId id="264" r:id="rId6"/>
    <p:sldId id="291" r:id="rId7"/>
    <p:sldId id="287" r:id="rId8"/>
    <p:sldId id="290" r:id="rId9"/>
    <p:sldId id="285" r:id="rId10"/>
    <p:sldId id="265" r:id="rId11"/>
    <p:sldId id="266" r:id="rId12"/>
    <p:sldId id="292" r:id="rId13"/>
    <p:sldId id="283" r:id="rId14"/>
    <p:sldId id="288" r:id="rId15"/>
    <p:sldId id="289" r:id="rId16"/>
    <p:sldId id="267" r:id="rId17"/>
    <p:sldId id="278" r:id="rId18"/>
    <p:sldId id="279" r:id="rId19"/>
    <p:sldId id="268" r:id="rId20"/>
    <p:sldId id="273" r:id="rId21"/>
    <p:sldId id="276" r:id="rId22"/>
    <p:sldId id="274" r:id="rId23"/>
    <p:sldId id="275" r:id="rId24"/>
    <p:sldId id="269" r:id="rId25"/>
    <p:sldId id="270" r:id="rId26"/>
    <p:sldId id="271" r:id="rId27"/>
    <p:sldId id="272" r:id="rId28"/>
    <p:sldId id="277" r:id="rId29"/>
  </p:sldIdLst>
  <p:sldSz cx="10080625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3531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9" autoAdjust="0"/>
    <p:restoredTop sz="94641" autoAdjust="0"/>
  </p:normalViewPr>
  <p:slideViewPr>
    <p:cSldViewPr>
      <p:cViewPr varScale="1">
        <p:scale>
          <a:sx n="69" d="100"/>
          <a:sy n="69" d="100"/>
        </p:scale>
        <p:origin x="1685" y="62"/>
      </p:cViewPr>
      <p:guideLst>
        <p:guide orient="horz" pos="2448"/>
        <p:guide pos="31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1272011"/>
            <a:ext cx="8568531" cy="270594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078" y="4082310"/>
            <a:ext cx="7560469" cy="1876530"/>
          </a:xfrm>
        </p:spPr>
        <p:txBody>
          <a:bodyPr/>
          <a:lstStyle>
            <a:lvl1pPr marL="0" indent="0" algn="ctr">
              <a:buNone/>
              <a:defRPr sz="2646"/>
            </a:lvl1pPr>
            <a:lvl2pPr marL="504017" indent="0" algn="ctr">
              <a:buNone/>
              <a:defRPr sz="2205"/>
            </a:lvl2pPr>
            <a:lvl3pPr marL="1008035" indent="0" algn="ctr">
              <a:buNone/>
              <a:defRPr sz="1984"/>
            </a:lvl3pPr>
            <a:lvl4pPr marL="1512052" indent="0" algn="ctr">
              <a:buNone/>
              <a:defRPr sz="1764"/>
            </a:lvl4pPr>
            <a:lvl5pPr marL="2016069" indent="0" algn="ctr">
              <a:buNone/>
              <a:defRPr sz="1764"/>
            </a:lvl5pPr>
            <a:lvl6pPr marL="2520086" indent="0" algn="ctr">
              <a:buNone/>
              <a:defRPr sz="1764"/>
            </a:lvl6pPr>
            <a:lvl7pPr marL="3024104" indent="0" algn="ctr">
              <a:buNone/>
              <a:defRPr sz="1764"/>
            </a:lvl7pPr>
            <a:lvl8pPr marL="3528121" indent="0" algn="ctr">
              <a:buNone/>
              <a:defRPr sz="1764"/>
            </a:lvl8pPr>
            <a:lvl9pPr marL="4032138" indent="0" algn="ctr">
              <a:buNone/>
              <a:defRPr sz="176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5FE2-6A9C-490E-9F19-48C9289CD5CE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1284-F169-40AE-884E-331333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730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5FE2-6A9C-490E-9F19-48C9289CD5CE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1284-F169-40AE-884E-331333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997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793" y="1937705"/>
            <a:ext cx="8694539" cy="3233102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793" y="5201393"/>
            <a:ext cx="8694539" cy="1700212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4017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8035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205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606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200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4104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812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213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5FE2-6A9C-490E-9F19-48C9289CD5CE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1284-F169-40AE-884E-331333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135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3043" y="2069042"/>
            <a:ext cx="4284266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3316" y="2069042"/>
            <a:ext cx="4284266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5FE2-6A9C-490E-9F19-48C9289CD5CE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1284-F169-40AE-884E-331333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274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413810"/>
            <a:ext cx="8694539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357" y="1905318"/>
            <a:ext cx="4264576" cy="933767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4017" indent="0">
              <a:buNone/>
              <a:defRPr sz="2205" b="1"/>
            </a:lvl2pPr>
            <a:lvl3pPr marL="1008035" indent="0">
              <a:buNone/>
              <a:defRPr sz="1984" b="1"/>
            </a:lvl3pPr>
            <a:lvl4pPr marL="1512052" indent="0">
              <a:buNone/>
              <a:defRPr sz="1764" b="1"/>
            </a:lvl4pPr>
            <a:lvl5pPr marL="2016069" indent="0">
              <a:buNone/>
              <a:defRPr sz="1764" b="1"/>
            </a:lvl5pPr>
            <a:lvl6pPr marL="2520086" indent="0">
              <a:buNone/>
              <a:defRPr sz="1764" b="1"/>
            </a:lvl6pPr>
            <a:lvl7pPr marL="3024104" indent="0">
              <a:buNone/>
              <a:defRPr sz="1764" b="1"/>
            </a:lvl7pPr>
            <a:lvl8pPr marL="3528121" indent="0">
              <a:buNone/>
              <a:defRPr sz="1764" b="1"/>
            </a:lvl8pPr>
            <a:lvl9pPr marL="4032138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57" y="2839085"/>
            <a:ext cx="4264576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317" y="1905318"/>
            <a:ext cx="4285579" cy="933767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4017" indent="0">
              <a:buNone/>
              <a:defRPr sz="2205" b="1"/>
            </a:lvl2pPr>
            <a:lvl3pPr marL="1008035" indent="0">
              <a:buNone/>
              <a:defRPr sz="1984" b="1"/>
            </a:lvl3pPr>
            <a:lvl4pPr marL="1512052" indent="0">
              <a:buNone/>
              <a:defRPr sz="1764" b="1"/>
            </a:lvl4pPr>
            <a:lvl5pPr marL="2016069" indent="0">
              <a:buNone/>
              <a:defRPr sz="1764" b="1"/>
            </a:lvl5pPr>
            <a:lvl6pPr marL="2520086" indent="0">
              <a:buNone/>
              <a:defRPr sz="1764" b="1"/>
            </a:lvl6pPr>
            <a:lvl7pPr marL="3024104" indent="0">
              <a:buNone/>
              <a:defRPr sz="1764" b="1"/>
            </a:lvl7pPr>
            <a:lvl8pPr marL="3528121" indent="0">
              <a:buNone/>
              <a:defRPr sz="1764" b="1"/>
            </a:lvl8pPr>
            <a:lvl9pPr marL="4032138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317" y="2839085"/>
            <a:ext cx="4285579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5FE2-6A9C-490E-9F19-48C9289CD5CE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1284-F169-40AE-884E-331333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845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5FE2-6A9C-490E-9F19-48C9289CD5CE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1284-F169-40AE-884E-331333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35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5FE2-6A9C-490E-9F19-48C9289CD5CE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1284-F169-40AE-884E-331333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81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518160"/>
            <a:ext cx="3251264" cy="1813560"/>
          </a:xfrm>
        </p:spPr>
        <p:txBody>
          <a:bodyPr anchor="b"/>
          <a:lstStyle>
            <a:lvl1pPr>
              <a:defRPr sz="35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579" y="1119083"/>
            <a:ext cx="5103316" cy="5523442"/>
          </a:xfrm>
        </p:spPr>
        <p:txBody>
          <a:bodyPr/>
          <a:lstStyle>
            <a:lvl1pPr>
              <a:defRPr sz="3528"/>
            </a:lvl1pPr>
            <a:lvl2pPr>
              <a:defRPr sz="3087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2331720"/>
            <a:ext cx="3251264" cy="4319800"/>
          </a:xfrm>
        </p:spPr>
        <p:txBody>
          <a:bodyPr/>
          <a:lstStyle>
            <a:lvl1pPr marL="0" indent="0">
              <a:buNone/>
              <a:defRPr sz="1764"/>
            </a:lvl1pPr>
            <a:lvl2pPr marL="504017" indent="0">
              <a:buNone/>
              <a:defRPr sz="1543"/>
            </a:lvl2pPr>
            <a:lvl3pPr marL="1008035" indent="0">
              <a:buNone/>
              <a:defRPr sz="1323"/>
            </a:lvl3pPr>
            <a:lvl4pPr marL="1512052" indent="0">
              <a:buNone/>
              <a:defRPr sz="1102"/>
            </a:lvl4pPr>
            <a:lvl5pPr marL="2016069" indent="0">
              <a:buNone/>
              <a:defRPr sz="1102"/>
            </a:lvl5pPr>
            <a:lvl6pPr marL="2520086" indent="0">
              <a:buNone/>
              <a:defRPr sz="1102"/>
            </a:lvl6pPr>
            <a:lvl7pPr marL="3024104" indent="0">
              <a:buNone/>
              <a:defRPr sz="1102"/>
            </a:lvl7pPr>
            <a:lvl8pPr marL="3528121" indent="0">
              <a:buNone/>
              <a:defRPr sz="1102"/>
            </a:lvl8pPr>
            <a:lvl9pPr marL="4032138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5FE2-6A9C-490E-9F19-48C9289CD5CE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1284-F169-40AE-884E-331333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97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518160"/>
            <a:ext cx="3251264" cy="1813560"/>
          </a:xfrm>
        </p:spPr>
        <p:txBody>
          <a:bodyPr anchor="b"/>
          <a:lstStyle>
            <a:lvl1pPr>
              <a:defRPr sz="35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85579" y="1119083"/>
            <a:ext cx="5103316" cy="5523442"/>
          </a:xfrm>
        </p:spPr>
        <p:txBody>
          <a:bodyPr anchor="t"/>
          <a:lstStyle>
            <a:lvl1pPr marL="0" indent="0">
              <a:buNone/>
              <a:defRPr sz="3528"/>
            </a:lvl1pPr>
            <a:lvl2pPr marL="504017" indent="0">
              <a:buNone/>
              <a:defRPr sz="3087"/>
            </a:lvl2pPr>
            <a:lvl3pPr marL="1008035" indent="0">
              <a:buNone/>
              <a:defRPr sz="2646"/>
            </a:lvl3pPr>
            <a:lvl4pPr marL="1512052" indent="0">
              <a:buNone/>
              <a:defRPr sz="2205"/>
            </a:lvl4pPr>
            <a:lvl5pPr marL="2016069" indent="0">
              <a:buNone/>
              <a:defRPr sz="2205"/>
            </a:lvl5pPr>
            <a:lvl6pPr marL="2520086" indent="0">
              <a:buNone/>
              <a:defRPr sz="2205"/>
            </a:lvl6pPr>
            <a:lvl7pPr marL="3024104" indent="0">
              <a:buNone/>
              <a:defRPr sz="2205"/>
            </a:lvl7pPr>
            <a:lvl8pPr marL="3528121" indent="0">
              <a:buNone/>
              <a:defRPr sz="2205"/>
            </a:lvl8pPr>
            <a:lvl9pPr marL="4032138" indent="0">
              <a:buNone/>
              <a:defRPr sz="220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2331720"/>
            <a:ext cx="3251264" cy="4319800"/>
          </a:xfrm>
        </p:spPr>
        <p:txBody>
          <a:bodyPr/>
          <a:lstStyle>
            <a:lvl1pPr marL="0" indent="0">
              <a:buNone/>
              <a:defRPr sz="1764"/>
            </a:lvl1pPr>
            <a:lvl2pPr marL="504017" indent="0">
              <a:buNone/>
              <a:defRPr sz="1543"/>
            </a:lvl2pPr>
            <a:lvl3pPr marL="1008035" indent="0">
              <a:buNone/>
              <a:defRPr sz="1323"/>
            </a:lvl3pPr>
            <a:lvl4pPr marL="1512052" indent="0">
              <a:buNone/>
              <a:defRPr sz="1102"/>
            </a:lvl4pPr>
            <a:lvl5pPr marL="2016069" indent="0">
              <a:buNone/>
              <a:defRPr sz="1102"/>
            </a:lvl5pPr>
            <a:lvl6pPr marL="2520086" indent="0">
              <a:buNone/>
              <a:defRPr sz="1102"/>
            </a:lvl6pPr>
            <a:lvl7pPr marL="3024104" indent="0">
              <a:buNone/>
              <a:defRPr sz="1102"/>
            </a:lvl7pPr>
            <a:lvl8pPr marL="3528121" indent="0">
              <a:buNone/>
              <a:defRPr sz="1102"/>
            </a:lvl8pPr>
            <a:lvl9pPr marL="4032138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5FE2-6A9C-490E-9F19-48C9289CD5CE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1284-F169-40AE-884E-331333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676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5FE2-6A9C-490E-9F19-48C9289CD5CE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1284-F169-40AE-884E-331333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99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948" y="413808"/>
            <a:ext cx="2173635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044" y="413808"/>
            <a:ext cx="6394896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5FE2-6A9C-490E-9F19-48C9289CD5CE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1284-F169-40AE-884E-331333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244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043" y="413810"/>
            <a:ext cx="8694539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043" y="2069042"/>
            <a:ext cx="8694539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043" y="7203865"/>
            <a:ext cx="2268141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95FE2-6A9C-490E-9F19-48C9289CD5CE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9207" y="7203865"/>
            <a:ext cx="3402211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441" y="7203865"/>
            <a:ext cx="2268141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11284-F169-40AE-884E-331333C84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65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8035" rtl="0" eaLnBrk="1" latinLnBrk="0" hangingPunct="1">
        <a:lnSpc>
          <a:spcPct val="90000"/>
        </a:lnSpc>
        <a:spcBef>
          <a:spcPct val="0"/>
        </a:spcBef>
        <a:buNone/>
        <a:defRPr sz="48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09" indent="-252009" algn="l" defTabSz="1008035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7" kern="1200">
          <a:solidFill>
            <a:schemeClr val="tx1"/>
          </a:solidFill>
          <a:latin typeface="+mn-lt"/>
          <a:ea typeface="+mn-ea"/>
          <a:cs typeface="+mn-cs"/>
        </a:defRPr>
      </a:lvl1pPr>
      <a:lvl2pPr marL="756026" indent="-252009" algn="l" defTabSz="1008035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60043" indent="-252009" algn="l" defTabSz="1008035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4060" indent="-252009" algn="l" defTabSz="1008035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8078" indent="-252009" algn="l" defTabSz="1008035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2095" indent="-252009" algn="l" defTabSz="1008035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6112" indent="-252009" algn="l" defTabSz="1008035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80130" indent="-252009" algn="l" defTabSz="1008035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4147" indent="-252009" algn="l" defTabSz="1008035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8035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4017" algn="l" defTabSz="1008035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8035" algn="l" defTabSz="1008035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2052" algn="l" defTabSz="1008035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6069" algn="l" defTabSz="1008035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20086" algn="l" defTabSz="1008035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4104" algn="l" defTabSz="1008035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8121" algn="l" defTabSz="1008035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2138" algn="l" defTabSz="1008035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4.jpeg"/><Relationship Id="rId7" Type="http://schemas.openxmlformats.org/officeDocument/2006/relationships/image" Target="../media/image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g"/><Relationship Id="rId10" Type="http://schemas.openxmlformats.org/officeDocument/2006/relationships/image" Target="../media/image12.jpeg"/><Relationship Id="rId4" Type="http://schemas.openxmlformats.org/officeDocument/2006/relationships/image" Target="../media/image2.png"/><Relationship Id="rId9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5" Type="http://schemas.openxmlformats.org/officeDocument/2006/relationships/image" Target="../media/image13.jpe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4.jpeg"/><Relationship Id="rId7" Type="http://schemas.openxmlformats.org/officeDocument/2006/relationships/image" Target="../media/image1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4.jpeg"/><Relationship Id="rId7" Type="http://schemas.openxmlformats.org/officeDocument/2006/relationships/image" Target="../media/image2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.jpeg"/><Relationship Id="rId7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4.jpeg"/><Relationship Id="rId7" Type="http://schemas.openxmlformats.org/officeDocument/2006/relationships/image" Target="../media/image3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2.png"/><Relationship Id="rId9" Type="http://schemas.openxmlformats.org/officeDocument/2006/relationships/image" Target="../media/image34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4.jpeg"/><Relationship Id="rId7" Type="http://schemas.openxmlformats.org/officeDocument/2006/relationships/image" Target="../media/image3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4.jpeg"/><Relationship Id="rId7" Type="http://schemas.openxmlformats.org/officeDocument/2006/relationships/image" Target="../media/image4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2.png"/><Relationship Id="rId9" Type="http://schemas.openxmlformats.org/officeDocument/2006/relationships/image" Target="../media/image43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eg"/><Relationship Id="rId3" Type="http://schemas.openxmlformats.org/officeDocument/2006/relationships/image" Target="../media/image4.jpeg"/><Relationship Id="rId7" Type="http://schemas.openxmlformats.org/officeDocument/2006/relationships/image" Target="../media/image4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jpeg"/><Relationship Id="rId5" Type="http://schemas.openxmlformats.org/officeDocument/2006/relationships/image" Target="../media/image4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eg"/><Relationship Id="rId3" Type="http://schemas.openxmlformats.org/officeDocument/2006/relationships/image" Target="../media/image4.jpeg"/><Relationship Id="rId7" Type="http://schemas.openxmlformats.org/officeDocument/2006/relationships/image" Target="../media/image5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eg"/><Relationship Id="rId3" Type="http://schemas.openxmlformats.org/officeDocument/2006/relationships/image" Target="../media/image4.jpeg"/><Relationship Id="rId7" Type="http://schemas.openxmlformats.org/officeDocument/2006/relationships/image" Target="../media/image5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jpeg"/><Relationship Id="rId5" Type="http://schemas.openxmlformats.org/officeDocument/2006/relationships/image" Target="../media/image52.jpe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jpeg"/><Relationship Id="rId3" Type="http://schemas.openxmlformats.org/officeDocument/2006/relationships/image" Target="../media/image4.jpeg"/><Relationship Id="rId7" Type="http://schemas.openxmlformats.org/officeDocument/2006/relationships/image" Target="../media/image5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jpeg"/><Relationship Id="rId5" Type="http://schemas.openxmlformats.org/officeDocument/2006/relationships/image" Target="../media/image56.jpe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g"/><Relationship Id="rId3" Type="http://schemas.openxmlformats.org/officeDocument/2006/relationships/image" Target="../media/image4.jpeg"/><Relationship Id="rId7" Type="http://schemas.openxmlformats.org/officeDocument/2006/relationships/image" Target="../media/image6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jpg"/><Relationship Id="rId5" Type="http://schemas.openxmlformats.org/officeDocument/2006/relationships/image" Target="../media/image60.jp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4.jpeg"/><Relationship Id="rId7" Type="http://schemas.openxmlformats.org/officeDocument/2006/relationships/image" Target="../media/image6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jpeg"/><Relationship Id="rId3" Type="http://schemas.openxmlformats.org/officeDocument/2006/relationships/image" Target="../media/image3.png"/><Relationship Id="rId7" Type="http://schemas.openxmlformats.org/officeDocument/2006/relationships/image" Target="../media/image69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68.jpeg"/><Relationship Id="rId5" Type="http://schemas.openxmlformats.org/officeDocument/2006/relationships/image" Target="../media/image2.png"/><Relationship Id="rId4" Type="http://schemas.openxmlformats.org/officeDocument/2006/relationships/image" Target="../media/image4.jpeg"/><Relationship Id="rId9" Type="http://schemas.openxmlformats.org/officeDocument/2006/relationships/image" Target="../media/image71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jpeg"/><Relationship Id="rId3" Type="http://schemas.openxmlformats.org/officeDocument/2006/relationships/image" Target="../media/image4.jpeg"/><Relationship Id="rId7" Type="http://schemas.openxmlformats.org/officeDocument/2006/relationships/image" Target="../media/image7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jpeg"/><Relationship Id="rId5" Type="http://schemas.openxmlformats.org/officeDocument/2006/relationships/image" Target="../media/image72.jpe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jpeg"/><Relationship Id="rId3" Type="http://schemas.openxmlformats.org/officeDocument/2006/relationships/image" Target="../media/image4.jpeg"/><Relationship Id="rId7" Type="http://schemas.openxmlformats.org/officeDocument/2006/relationships/image" Target="../media/image7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jpeg"/><Relationship Id="rId5" Type="http://schemas.openxmlformats.org/officeDocument/2006/relationships/image" Target="../media/image76.jpe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jpeg"/><Relationship Id="rId3" Type="http://schemas.openxmlformats.org/officeDocument/2006/relationships/image" Target="../media/image3.png"/><Relationship Id="rId7" Type="http://schemas.openxmlformats.org/officeDocument/2006/relationships/image" Target="../media/image8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0.jpeg"/><Relationship Id="rId5" Type="http://schemas.openxmlformats.org/officeDocument/2006/relationships/image" Target="../media/image2.png"/><Relationship Id="rId10" Type="http://schemas.openxmlformats.org/officeDocument/2006/relationships/image" Target="../media/image84.jpeg"/><Relationship Id="rId4" Type="http://schemas.openxmlformats.org/officeDocument/2006/relationships/image" Target="../media/image4.jpeg"/><Relationship Id="rId9" Type="http://schemas.openxmlformats.org/officeDocument/2006/relationships/image" Target="../media/image83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jpeg"/><Relationship Id="rId3" Type="http://schemas.openxmlformats.org/officeDocument/2006/relationships/image" Target="../media/image3.png"/><Relationship Id="rId7" Type="http://schemas.openxmlformats.org/officeDocument/2006/relationships/image" Target="../media/image86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85.jpeg"/><Relationship Id="rId5" Type="http://schemas.openxmlformats.org/officeDocument/2006/relationships/image" Target="../media/image2.png"/><Relationship Id="rId4" Type="http://schemas.openxmlformats.org/officeDocument/2006/relationships/image" Target="../media/image4.jpeg"/><Relationship Id="rId9" Type="http://schemas.openxmlformats.org/officeDocument/2006/relationships/image" Target="../media/image88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9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jpeg"/><Relationship Id="rId5" Type="http://schemas.openxmlformats.org/officeDocument/2006/relationships/image" Target="../media/image89.jpe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mailto:delineate07@gmail.co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B721434-2698-8F04-1676-431FEFD93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9" y="-75838"/>
            <a:ext cx="10080873" cy="7850470"/>
          </a:xfrm>
          <a:prstGeom prst="rect">
            <a:avLst/>
          </a:prstGeom>
          <a:solidFill>
            <a:schemeClr val="accent2">
              <a:lumMod val="50000"/>
              <a:alpha val="2000"/>
            </a:schemeClr>
          </a:solidFill>
          <a:ln w="76200">
            <a:solidFill>
              <a:schemeClr val="tx1"/>
            </a:solidFill>
          </a:ln>
          <a:effectLst>
            <a:glow rad="127000">
              <a:schemeClr val="accent1">
                <a:alpha val="28000"/>
              </a:schemeClr>
            </a:glow>
            <a:outerShdw blurRad="838200" dist="889000" dir="19680000" algn="ctr" rotWithShape="0">
              <a:srgbClr val="000000">
                <a:alpha val="0"/>
              </a:srgbClr>
            </a:outerShdw>
            <a:reflection blurRad="1066800" stA="1000" endPos="65000" dist="800100" dir="5400000" sy="-100000" algn="bl" rotWithShape="0"/>
            <a:softEdge rad="266700"/>
          </a:effectLst>
          <a:scene3d>
            <a:camera prst="orthographicFront"/>
            <a:lightRig rig="threePt" dir="t"/>
          </a:scene3d>
          <a:sp3d extrusionH="76200">
            <a:extrusionClr>
              <a:schemeClr val="accent2">
                <a:lumMod val="40000"/>
                <a:lumOff val="60000"/>
              </a:schemeClr>
            </a:extrusion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3A4508-A74C-ED23-B121-773D6840B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056" y="1506808"/>
            <a:ext cx="3764511" cy="3603528"/>
          </a:xfrm>
          <a:prstGeom prst="rect">
            <a:avLst/>
          </a:prstGeom>
        </p:spPr>
      </p:pic>
      <p:sp>
        <p:nvSpPr>
          <p:cNvPr id="12" name="object 2">
            <a:extLst>
              <a:ext uri="{FF2B5EF4-FFF2-40B4-BE49-F238E27FC236}">
                <a16:creationId xmlns:a16="http://schemas.microsoft.com/office/drawing/2014/main" id="{C2F7CCB9-A62F-FD3D-176C-09BC61E623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55936" y="5326360"/>
            <a:ext cx="712879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spc="204" dirty="0">
                <a:highlight>
                  <a:srgbClr val="808080"/>
                </a:highlight>
              </a:rPr>
              <a:t>SPACE DESIGNERS WITH PRECISION</a:t>
            </a:r>
            <a:endParaRPr sz="3200" dirty="0">
              <a:highlight>
                <a:srgbClr val="808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55236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57938-C055-E46E-5988-42C0CA94F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386" y="14386"/>
            <a:ext cx="10080625" cy="7772400"/>
          </a:xfrm>
          <a:prstGeom prst="rect">
            <a:avLst/>
          </a:prstGeom>
          <a:solidFill>
            <a:srgbClr val="CCCC00"/>
          </a:solid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039BCF7-F9D1-35B7-967E-573DA5E3993C}"/>
              </a:ext>
            </a:extLst>
          </p:cNvPr>
          <p:cNvSpPr/>
          <p:nvPr/>
        </p:nvSpPr>
        <p:spPr>
          <a:xfrm rot="5400000">
            <a:off x="3723327" y="1716959"/>
            <a:ext cx="2777983" cy="4320481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5022B39-32AA-6588-8E5A-3E920F867F65}"/>
              </a:ext>
            </a:extLst>
          </p:cNvPr>
          <p:cNvSpPr/>
          <p:nvPr/>
        </p:nvSpPr>
        <p:spPr>
          <a:xfrm rot="5400000">
            <a:off x="3795065" y="1082639"/>
            <a:ext cx="2490489" cy="176090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7C2BDF0-880C-E418-0BC6-6749AA479805}"/>
              </a:ext>
            </a:extLst>
          </p:cNvPr>
          <p:cNvSpPr/>
          <p:nvPr/>
        </p:nvSpPr>
        <p:spPr>
          <a:xfrm rot="5400000">
            <a:off x="7364639" y="2264424"/>
            <a:ext cx="1247346" cy="262346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BF0A60-7972-9B8A-4947-F8C6BE940A98}"/>
              </a:ext>
            </a:extLst>
          </p:cNvPr>
          <p:cNvSpPr/>
          <p:nvPr/>
        </p:nvSpPr>
        <p:spPr>
          <a:xfrm rot="6817409">
            <a:off x="6801208" y="3693906"/>
            <a:ext cx="1284326" cy="226962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08EE5AC-F8B4-8F9D-96A6-F5E37C7196A6}"/>
              </a:ext>
            </a:extLst>
          </p:cNvPr>
          <p:cNvSpPr/>
          <p:nvPr/>
        </p:nvSpPr>
        <p:spPr>
          <a:xfrm rot="6036244">
            <a:off x="1717111" y="2559205"/>
            <a:ext cx="1337101" cy="234663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38BAA8-02C9-BE03-BF7C-968FDB8ABFA0}"/>
              </a:ext>
            </a:extLst>
          </p:cNvPr>
          <p:cNvSpPr txBox="1"/>
          <p:nvPr/>
        </p:nvSpPr>
        <p:spPr>
          <a:xfrm>
            <a:off x="4452682" y="1641539"/>
            <a:ext cx="16021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lang="en-US" dirty="0">
                <a:cs typeface="Trebuchet MS"/>
              </a:rPr>
              <a:t>DESIGN HARMONY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1C4ED8-A494-2C7E-065B-9CDA7D31C33D}"/>
              </a:ext>
            </a:extLst>
          </p:cNvPr>
          <p:cNvSpPr txBox="1"/>
          <p:nvPr/>
        </p:nvSpPr>
        <p:spPr>
          <a:xfrm>
            <a:off x="7443371" y="3192700"/>
            <a:ext cx="16021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lang="en-US" sz="2000" dirty="0">
                <a:cs typeface="Trebuchet MS"/>
              </a:rPr>
              <a:t>LAYOUT PRECISION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48BA7B-3CFD-6AA2-3C80-AEBB174C29AB}"/>
              </a:ext>
            </a:extLst>
          </p:cNvPr>
          <p:cNvSpPr txBox="1"/>
          <p:nvPr/>
        </p:nvSpPr>
        <p:spPr>
          <a:xfrm rot="1710093">
            <a:off x="6989008" y="4619740"/>
            <a:ext cx="16021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lang="en-US" sz="2000" dirty="0">
                <a:cs typeface="Trebuchet MS"/>
              </a:rPr>
              <a:t>INTERIOR SYNERGY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3277D8-176F-C5D3-5F02-2910CE77AE6B}"/>
              </a:ext>
            </a:extLst>
          </p:cNvPr>
          <p:cNvSpPr txBox="1"/>
          <p:nvPr/>
        </p:nvSpPr>
        <p:spPr>
          <a:xfrm>
            <a:off x="3800234" y="3522300"/>
            <a:ext cx="31761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lang="en-US" sz="4400" dirty="0">
                <a:cs typeface="Trebuchet MS"/>
              </a:rPr>
              <a:t>DELINEATE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1493C6-8EB7-0535-D6D3-D759BD129337}"/>
              </a:ext>
            </a:extLst>
          </p:cNvPr>
          <p:cNvSpPr/>
          <p:nvPr/>
        </p:nvSpPr>
        <p:spPr>
          <a:xfrm rot="6755414">
            <a:off x="3291609" y="5089810"/>
            <a:ext cx="2510209" cy="15749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B3CA0E8-DC90-2B59-5AD7-21B41B4AF269}"/>
              </a:ext>
            </a:extLst>
          </p:cNvPr>
          <p:cNvSpPr/>
          <p:nvPr/>
        </p:nvSpPr>
        <p:spPr>
          <a:xfrm rot="7857395">
            <a:off x="5524782" y="1671804"/>
            <a:ext cx="2474029" cy="148420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5BEEAE8-CBC9-08E6-54B5-BA20A06C218E}"/>
              </a:ext>
            </a:extLst>
          </p:cNvPr>
          <p:cNvSpPr/>
          <p:nvPr/>
        </p:nvSpPr>
        <p:spPr>
          <a:xfrm rot="3989323">
            <a:off x="2196348" y="1693539"/>
            <a:ext cx="2474029" cy="1486219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0BC92C4-6772-F725-00E5-BFCAAD8DC827}"/>
              </a:ext>
            </a:extLst>
          </p:cNvPr>
          <p:cNvSpPr/>
          <p:nvPr/>
        </p:nvSpPr>
        <p:spPr>
          <a:xfrm rot="8601287">
            <a:off x="1677195" y="4485882"/>
            <a:ext cx="2708234" cy="144788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03EE962-55CE-F1CD-2BAF-48B3C67B1ED4}"/>
              </a:ext>
            </a:extLst>
          </p:cNvPr>
          <p:cNvSpPr/>
          <p:nvPr/>
        </p:nvSpPr>
        <p:spPr>
          <a:xfrm rot="3853507">
            <a:off x="5061937" y="5121871"/>
            <a:ext cx="2474029" cy="153421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ED230E-9C0B-9F8D-E803-A6590B9262E2}"/>
              </a:ext>
            </a:extLst>
          </p:cNvPr>
          <p:cNvSpPr txBox="1"/>
          <p:nvPr/>
        </p:nvSpPr>
        <p:spPr>
          <a:xfrm rot="18584389">
            <a:off x="5891514" y="1807379"/>
            <a:ext cx="21712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lang="en-US" dirty="0">
                <a:cs typeface="Trebuchet MS"/>
              </a:rPr>
              <a:t>ENVIOREMNTAL INTREGRATION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835A7E-FCD2-6DC4-AA08-AC46E6C9EBD0}"/>
              </a:ext>
            </a:extLst>
          </p:cNvPr>
          <p:cNvSpPr txBox="1"/>
          <p:nvPr/>
        </p:nvSpPr>
        <p:spPr>
          <a:xfrm rot="3727808">
            <a:off x="5543926" y="5624043"/>
            <a:ext cx="16021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lang="en-US" sz="2000" dirty="0">
                <a:cs typeface="Trebuchet MS"/>
              </a:rPr>
              <a:t>NUANCED AESTHETICS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FFC1BB-1BFC-FC1D-97F2-B399158013FB}"/>
              </a:ext>
            </a:extLst>
          </p:cNvPr>
          <p:cNvSpPr txBox="1"/>
          <p:nvPr/>
        </p:nvSpPr>
        <p:spPr>
          <a:xfrm rot="155955">
            <a:off x="3861096" y="5580675"/>
            <a:ext cx="16021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lang="en-US" sz="2000" dirty="0">
                <a:cs typeface="Trebuchet MS"/>
              </a:rPr>
              <a:t>EXTERIOR PLANNING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585BA8-EC9B-76D1-097A-3E6C42DC4AEF}"/>
              </a:ext>
            </a:extLst>
          </p:cNvPr>
          <p:cNvSpPr txBox="1"/>
          <p:nvPr/>
        </p:nvSpPr>
        <p:spPr>
          <a:xfrm rot="19110177">
            <a:off x="1813310" y="5020395"/>
            <a:ext cx="19726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lang="en-US" sz="2000" dirty="0">
                <a:cs typeface="Trebuchet MS"/>
              </a:rPr>
              <a:t>ARCHITECTURAL DETAILING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27C462-A57F-EB20-83A7-542B5C86FBFD}"/>
              </a:ext>
            </a:extLst>
          </p:cNvPr>
          <p:cNvSpPr txBox="1"/>
          <p:nvPr/>
        </p:nvSpPr>
        <p:spPr>
          <a:xfrm rot="301809">
            <a:off x="1606349" y="3488640"/>
            <a:ext cx="16021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lang="en-US" sz="2000" dirty="0">
                <a:cs typeface="Trebuchet MS"/>
              </a:rPr>
              <a:t>TABLEAU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5DFE70-190A-3E83-91F3-0F8E636C78E7}"/>
              </a:ext>
            </a:extLst>
          </p:cNvPr>
          <p:cNvSpPr txBox="1"/>
          <p:nvPr/>
        </p:nvSpPr>
        <p:spPr>
          <a:xfrm rot="3629096">
            <a:off x="2561449" y="2053794"/>
            <a:ext cx="16795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lang="en-US" sz="2000" dirty="0">
                <a:cs typeface="Trebuchet MS"/>
              </a:rPr>
              <a:t>EXECUTION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F6FBC13-9D8B-1BD0-56EE-6F8E7AA6B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154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57938-C055-E46E-5988-42C0CA94F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0080625" cy="7772400"/>
          </a:xfrm>
          <a:prstGeom prst="rect">
            <a:avLst/>
          </a:prstGeom>
          <a:solidFill>
            <a:srgbClr val="CCCC00"/>
          </a:solid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DC618E-76B1-2459-B775-EA8DF6FE7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8FB521-1DC1-406D-BE74-CD7AF53C6C98}"/>
              </a:ext>
            </a:extLst>
          </p:cNvPr>
          <p:cNvSpPr txBox="1"/>
          <p:nvPr/>
        </p:nvSpPr>
        <p:spPr>
          <a:xfrm>
            <a:off x="143769" y="1653952"/>
            <a:ext cx="5616624" cy="1754326"/>
          </a:xfrm>
          <a:prstGeom prst="rect">
            <a:avLst/>
          </a:prstGeom>
          <a:solidFill>
            <a:schemeClr val="accent1">
              <a:lumMod val="60000"/>
              <a:lumOff val="40000"/>
              <a:alpha val="2902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5400" dirty="0"/>
              <a:t>DEFINITION</a:t>
            </a:r>
          </a:p>
          <a:p>
            <a:endParaRPr lang="en-IN" sz="5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B8118A-033E-A37F-F4DA-DCD65C6D5B68}"/>
              </a:ext>
            </a:extLst>
          </p:cNvPr>
          <p:cNvSpPr txBox="1"/>
          <p:nvPr/>
        </p:nvSpPr>
        <p:spPr>
          <a:xfrm>
            <a:off x="143768" y="2448732"/>
            <a:ext cx="9936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lang="en-US" sz="2800" dirty="0">
                <a:cs typeface="Trebuchet MS"/>
              </a:rPr>
              <a:t>Describing</a:t>
            </a:r>
            <a:r>
              <a:rPr lang="en-US" sz="2800" spc="10" dirty="0">
                <a:cs typeface="Trebuchet MS"/>
              </a:rPr>
              <a:t> </a:t>
            </a:r>
            <a:r>
              <a:rPr lang="en-US" sz="2800" spc="105" dirty="0">
                <a:cs typeface="Trebuchet MS"/>
              </a:rPr>
              <a:t>and</a:t>
            </a:r>
            <a:r>
              <a:rPr lang="en-US" sz="2800" spc="10" dirty="0">
                <a:cs typeface="Trebuchet MS"/>
              </a:rPr>
              <a:t> </a:t>
            </a:r>
            <a:r>
              <a:rPr lang="en-US" sz="2800" dirty="0">
                <a:cs typeface="Trebuchet MS"/>
              </a:rPr>
              <a:t>portraying</a:t>
            </a:r>
            <a:r>
              <a:rPr lang="en-US" sz="2800" spc="15" dirty="0">
                <a:cs typeface="Trebuchet MS"/>
              </a:rPr>
              <a:t> </a:t>
            </a:r>
            <a:r>
              <a:rPr lang="en-US" sz="2800" spc="55" dirty="0">
                <a:cs typeface="Trebuchet MS"/>
              </a:rPr>
              <a:t>concepts</a:t>
            </a:r>
            <a:r>
              <a:rPr lang="en-US" sz="2800" spc="10" dirty="0">
                <a:cs typeface="Trebuchet MS"/>
              </a:rPr>
              <a:t> </a:t>
            </a:r>
            <a:r>
              <a:rPr lang="en-US" sz="2800" dirty="0">
                <a:cs typeface="Trebuchet MS"/>
              </a:rPr>
              <a:t>with</a:t>
            </a:r>
            <a:r>
              <a:rPr lang="en-US" sz="2800" spc="10" dirty="0">
                <a:cs typeface="Trebuchet MS"/>
              </a:rPr>
              <a:t> </a:t>
            </a:r>
            <a:r>
              <a:rPr lang="en-US" sz="2800" spc="-10" dirty="0">
                <a:cs typeface="Trebuchet MS"/>
              </a:rPr>
              <a:t>precision.</a:t>
            </a:r>
            <a:endParaRPr lang="en-US" sz="2800" dirty="0">
              <a:cs typeface="Trebuchet M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F681EB-9F85-60FF-33A2-C69DEAADA193}"/>
              </a:ext>
            </a:extLst>
          </p:cNvPr>
          <p:cNvSpPr txBox="1"/>
          <p:nvPr/>
        </p:nvSpPr>
        <p:spPr>
          <a:xfrm>
            <a:off x="4320232" y="4682344"/>
            <a:ext cx="5616624" cy="2585323"/>
          </a:xfrm>
          <a:prstGeom prst="rect">
            <a:avLst/>
          </a:prstGeom>
          <a:solidFill>
            <a:schemeClr val="accent2">
              <a:lumMod val="60000"/>
              <a:lumOff val="40000"/>
              <a:alpha val="2902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5400" dirty="0"/>
              <a:t>WHO ARE WE</a:t>
            </a:r>
          </a:p>
          <a:p>
            <a:endParaRPr lang="en-IN" sz="5400" dirty="0"/>
          </a:p>
          <a:p>
            <a:endParaRPr lang="en-IN" sz="5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0D82D5-FD49-A370-E925-FD8D70918D1F}"/>
              </a:ext>
            </a:extLst>
          </p:cNvPr>
          <p:cNvSpPr txBox="1"/>
          <p:nvPr/>
        </p:nvSpPr>
        <p:spPr>
          <a:xfrm>
            <a:off x="288773" y="5483177"/>
            <a:ext cx="9649072" cy="1270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0795" algn="just">
              <a:lnSpc>
                <a:spcPct val="107900"/>
              </a:lnSpc>
              <a:spcBef>
                <a:spcPts val="170"/>
              </a:spcBef>
            </a:pPr>
            <a:r>
              <a:rPr lang="en-US" sz="2400" dirty="0">
                <a:cs typeface="Trebuchet MS"/>
              </a:rPr>
              <a:t>Delineate</a:t>
            </a:r>
            <a:r>
              <a:rPr lang="en-US" sz="2400" spc="60" dirty="0">
                <a:cs typeface="Trebuchet MS"/>
              </a:rPr>
              <a:t>  </a:t>
            </a:r>
            <a:r>
              <a:rPr lang="en-US" sz="2400" dirty="0">
                <a:cs typeface="Trebuchet MS"/>
              </a:rPr>
              <a:t>is</a:t>
            </a:r>
            <a:r>
              <a:rPr lang="en-US" sz="2400" spc="60" dirty="0">
                <a:cs typeface="Trebuchet MS"/>
              </a:rPr>
              <a:t>  </a:t>
            </a:r>
            <a:r>
              <a:rPr lang="en-US" sz="2400" spc="150" dirty="0">
                <a:cs typeface="Trebuchet MS"/>
              </a:rPr>
              <a:t>a</a:t>
            </a:r>
            <a:r>
              <a:rPr lang="en-US" sz="2400" spc="60" dirty="0">
                <a:cs typeface="Trebuchet MS"/>
              </a:rPr>
              <a:t>  </a:t>
            </a:r>
            <a:r>
              <a:rPr lang="en-US" sz="2400" dirty="0">
                <a:cs typeface="Trebuchet MS"/>
              </a:rPr>
              <a:t>creative</a:t>
            </a:r>
            <a:r>
              <a:rPr lang="en-US" sz="2400" spc="60" dirty="0">
                <a:cs typeface="Trebuchet MS"/>
              </a:rPr>
              <a:t>  </a:t>
            </a:r>
            <a:r>
              <a:rPr lang="en-US" sz="2400" spc="80" dirty="0">
                <a:cs typeface="Trebuchet MS"/>
              </a:rPr>
              <a:t>agency</a:t>
            </a:r>
            <a:r>
              <a:rPr lang="en-US" sz="2400" spc="40" dirty="0">
                <a:cs typeface="Trebuchet MS"/>
              </a:rPr>
              <a:t>  </a:t>
            </a:r>
            <a:r>
              <a:rPr lang="en-US" sz="2400" dirty="0">
                <a:cs typeface="Trebuchet MS"/>
              </a:rPr>
              <a:t>which</a:t>
            </a:r>
            <a:r>
              <a:rPr lang="en-US" sz="2400" spc="60" dirty="0">
                <a:cs typeface="Trebuchet MS"/>
              </a:rPr>
              <a:t>  </a:t>
            </a:r>
            <a:r>
              <a:rPr lang="en-US" sz="2400" dirty="0">
                <a:cs typeface="Trebuchet MS"/>
              </a:rPr>
              <a:t>believes</a:t>
            </a:r>
            <a:r>
              <a:rPr lang="en-US" sz="2400" spc="60" dirty="0">
                <a:cs typeface="Trebuchet MS"/>
              </a:rPr>
              <a:t>  </a:t>
            </a:r>
            <a:r>
              <a:rPr lang="en-US" sz="2400" dirty="0">
                <a:cs typeface="Trebuchet MS"/>
              </a:rPr>
              <a:t>in</a:t>
            </a:r>
            <a:r>
              <a:rPr lang="en-US" sz="2400" spc="60" dirty="0">
                <a:cs typeface="Trebuchet MS"/>
              </a:rPr>
              <a:t>  </a:t>
            </a:r>
            <a:r>
              <a:rPr lang="en-US" sz="2400" spc="-10" dirty="0">
                <a:cs typeface="Trebuchet MS"/>
              </a:rPr>
              <a:t>providing </a:t>
            </a:r>
            <a:r>
              <a:rPr lang="en-US" sz="2400" dirty="0">
                <a:cs typeface="Trebuchet MS"/>
              </a:rPr>
              <a:t>services</a:t>
            </a:r>
            <a:r>
              <a:rPr lang="en-US" sz="2400" spc="240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with</a:t>
            </a:r>
            <a:r>
              <a:rPr lang="en-US" sz="2400" spc="245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complete</a:t>
            </a:r>
            <a:r>
              <a:rPr lang="en-US" sz="2400" spc="240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precision</a:t>
            </a:r>
            <a:r>
              <a:rPr lang="en-US" sz="2400" spc="245" dirty="0">
                <a:cs typeface="Trebuchet MS"/>
              </a:rPr>
              <a:t> </a:t>
            </a:r>
            <a:r>
              <a:rPr lang="en-US" sz="2400" spc="105" dirty="0">
                <a:cs typeface="Trebuchet MS"/>
              </a:rPr>
              <a:t>and</a:t>
            </a:r>
            <a:r>
              <a:rPr lang="en-US" sz="2400" spc="240" dirty="0">
                <a:cs typeface="Trebuchet MS"/>
              </a:rPr>
              <a:t> </a:t>
            </a:r>
            <a:r>
              <a:rPr lang="en-US" sz="2400" spc="-30" dirty="0">
                <a:cs typeface="Trebuchet MS"/>
              </a:rPr>
              <a:t>detail,</a:t>
            </a:r>
            <a:r>
              <a:rPr lang="en-US" sz="2400" spc="130" dirty="0">
                <a:cs typeface="Trebuchet MS"/>
              </a:rPr>
              <a:t> in </a:t>
            </a:r>
            <a:r>
              <a:rPr lang="en-IN" sz="2400" dirty="0"/>
              <a:t>synchronization with market trend and </a:t>
            </a:r>
            <a:r>
              <a:rPr lang="en-US" sz="2400" dirty="0">
                <a:cs typeface="Trebuchet MS"/>
              </a:rPr>
              <a:t>keeping</a:t>
            </a:r>
            <a:r>
              <a:rPr lang="en-US" sz="2400" spc="245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clients</a:t>
            </a:r>
            <a:r>
              <a:rPr lang="en-US" sz="2400" spc="240" dirty="0">
                <a:cs typeface="Trebuchet MS"/>
              </a:rPr>
              <a:t> </a:t>
            </a:r>
            <a:r>
              <a:rPr lang="en-US" sz="2400" spc="105" dirty="0">
                <a:cs typeface="Trebuchet MS"/>
              </a:rPr>
              <a:t>as </a:t>
            </a:r>
            <a:r>
              <a:rPr lang="en-US" sz="2400" dirty="0">
                <a:cs typeface="Trebuchet MS"/>
              </a:rPr>
              <a:t>our</a:t>
            </a:r>
            <a:r>
              <a:rPr lang="en-US" sz="2400" spc="-125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top</a:t>
            </a:r>
            <a:r>
              <a:rPr lang="en-US" sz="2400" spc="-30" dirty="0">
                <a:cs typeface="Trebuchet MS"/>
              </a:rPr>
              <a:t> </a:t>
            </a:r>
            <a:r>
              <a:rPr lang="en-US" sz="2400" spc="-10" dirty="0">
                <a:cs typeface="Trebuchet MS"/>
              </a:rPr>
              <a:t>priority.</a:t>
            </a:r>
            <a:endParaRPr lang="en-US" sz="2400" dirty="0"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016271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57938-C055-E46E-5988-42C0CA94F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0080625" cy="7772400"/>
          </a:xfrm>
          <a:prstGeom prst="rect">
            <a:avLst/>
          </a:prstGeom>
          <a:blipFill dpi="0" rotWithShape="1">
            <a:blip r:embed="rId3">
              <a:alphaModFix amt="35000"/>
            </a:blip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DC618E-76B1-2459-B775-EA8DF6FE7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8FB521-1DC1-406D-BE74-CD7AF53C6C98}"/>
              </a:ext>
            </a:extLst>
          </p:cNvPr>
          <p:cNvSpPr txBox="1"/>
          <p:nvPr/>
        </p:nvSpPr>
        <p:spPr>
          <a:xfrm>
            <a:off x="143769" y="1653952"/>
            <a:ext cx="5616624" cy="1754326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5400" dirty="0"/>
              <a:t>WHAT DO WE DO</a:t>
            </a:r>
          </a:p>
          <a:p>
            <a:endParaRPr lang="en-IN" sz="5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B8118A-033E-A37F-F4DA-DCD65C6D5B68}"/>
              </a:ext>
            </a:extLst>
          </p:cNvPr>
          <p:cNvSpPr txBox="1"/>
          <p:nvPr/>
        </p:nvSpPr>
        <p:spPr>
          <a:xfrm>
            <a:off x="143769" y="2448732"/>
            <a:ext cx="97930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lang="en-US" sz="2400" spc="90" dirty="0">
                <a:cs typeface="Trebuchet MS"/>
              </a:rPr>
              <a:t>We</a:t>
            </a:r>
            <a:r>
              <a:rPr lang="en-US" sz="2400" spc="85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provide</a:t>
            </a:r>
            <a:r>
              <a:rPr lang="en-US" sz="2400" spc="90" dirty="0">
                <a:cs typeface="Trebuchet MS"/>
              </a:rPr>
              <a:t> complete </a:t>
            </a:r>
            <a:r>
              <a:rPr lang="en-US" sz="2400" dirty="0">
                <a:cs typeface="Trebuchet MS"/>
              </a:rPr>
              <a:t>services</a:t>
            </a:r>
            <a:r>
              <a:rPr lang="en-US" sz="2400" spc="90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pertaining</a:t>
            </a:r>
            <a:r>
              <a:rPr lang="en-US" sz="2400" spc="45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to</a:t>
            </a:r>
            <a:r>
              <a:rPr lang="en-US" sz="2400" spc="85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consultation, designing and execution with understanding</a:t>
            </a:r>
            <a:r>
              <a:rPr lang="en-US" sz="2400" spc="105" dirty="0">
                <a:cs typeface="Trebuchet MS"/>
              </a:rPr>
              <a:t> and </a:t>
            </a:r>
            <a:r>
              <a:rPr lang="en-US" sz="2400" dirty="0">
                <a:cs typeface="Trebuchet MS"/>
              </a:rPr>
              <a:t>development for</a:t>
            </a:r>
            <a:r>
              <a:rPr lang="en-US" sz="2400" spc="75" dirty="0">
                <a:cs typeface="Trebuchet MS"/>
              </a:rPr>
              <a:t>  </a:t>
            </a:r>
            <a:r>
              <a:rPr lang="en-US" sz="2400" spc="-10" dirty="0">
                <a:cs typeface="Trebuchet MS"/>
              </a:rPr>
              <a:t>ourselves </a:t>
            </a:r>
            <a:r>
              <a:rPr lang="en-US" sz="2400" spc="105" dirty="0">
                <a:cs typeface="Trebuchet MS"/>
              </a:rPr>
              <a:t>and</a:t>
            </a:r>
            <a:r>
              <a:rPr lang="en-US" sz="2400" spc="-90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our</a:t>
            </a:r>
            <a:r>
              <a:rPr lang="en-US" sz="2400" spc="-130" dirty="0">
                <a:cs typeface="Trebuchet MS"/>
              </a:rPr>
              <a:t> </a:t>
            </a:r>
            <a:r>
              <a:rPr lang="en-US" sz="2400" spc="65" dirty="0">
                <a:cs typeface="Trebuchet MS"/>
              </a:rPr>
              <a:t>business</a:t>
            </a:r>
            <a:r>
              <a:rPr lang="en-US" sz="2400" spc="-90" dirty="0">
                <a:cs typeface="Trebuchet MS"/>
              </a:rPr>
              <a:t> </a:t>
            </a:r>
            <a:r>
              <a:rPr lang="en-US" sz="2400" spc="-10" dirty="0">
                <a:cs typeface="Trebuchet MS"/>
              </a:rPr>
              <a:t>contributors.</a:t>
            </a:r>
            <a:endParaRPr lang="en-US" sz="2400" dirty="0">
              <a:cs typeface="Trebuchet M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F681EB-9F85-60FF-33A2-C69DEAADA193}"/>
              </a:ext>
            </a:extLst>
          </p:cNvPr>
          <p:cNvSpPr txBox="1"/>
          <p:nvPr/>
        </p:nvSpPr>
        <p:spPr>
          <a:xfrm>
            <a:off x="4320232" y="4682344"/>
            <a:ext cx="5616624" cy="2585323"/>
          </a:xfrm>
          <a:prstGeom prst="rect">
            <a:avLst/>
          </a:prstGeom>
          <a:solidFill>
            <a:srgbClr val="00B050">
              <a:alpha val="29020"/>
            </a:srgb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5400" dirty="0"/>
              <a:t>OUR GOAL</a:t>
            </a:r>
          </a:p>
          <a:p>
            <a:endParaRPr lang="en-IN" sz="5400" dirty="0"/>
          </a:p>
          <a:p>
            <a:endParaRPr lang="en-IN" sz="5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0D82D5-FD49-A370-E925-FD8D70918D1F}"/>
              </a:ext>
            </a:extLst>
          </p:cNvPr>
          <p:cNvSpPr txBox="1"/>
          <p:nvPr/>
        </p:nvSpPr>
        <p:spPr>
          <a:xfrm>
            <a:off x="143770" y="5614392"/>
            <a:ext cx="115212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949450" algn="just"/>
            <a:r>
              <a:rPr lang="en-US" sz="2400" dirty="0">
                <a:cs typeface="Trebuchet MS"/>
              </a:rPr>
              <a:t>Our</a:t>
            </a:r>
            <a:r>
              <a:rPr lang="en-US" sz="2400" spc="-90" dirty="0">
                <a:cs typeface="Trebuchet MS"/>
              </a:rPr>
              <a:t> </a:t>
            </a:r>
            <a:r>
              <a:rPr lang="en-US" sz="2400" spc="-10" dirty="0">
                <a:cs typeface="Trebuchet MS"/>
              </a:rPr>
              <a:t>clients</a:t>
            </a:r>
            <a:r>
              <a:rPr lang="en-US" sz="2400" spc="-15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are</a:t>
            </a:r>
            <a:r>
              <a:rPr lang="en-US" sz="2400" spc="-45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the</a:t>
            </a:r>
            <a:r>
              <a:rPr lang="en-US" sz="2400" spc="-10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focal</a:t>
            </a:r>
            <a:r>
              <a:rPr lang="en-US" sz="2400" spc="-15" dirty="0">
                <a:cs typeface="Trebuchet MS"/>
              </a:rPr>
              <a:t> </a:t>
            </a:r>
            <a:r>
              <a:rPr lang="en-US" sz="2400" spc="-10" dirty="0">
                <a:cs typeface="Trebuchet MS"/>
              </a:rPr>
              <a:t>center </a:t>
            </a:r>
            <a:r>
              <a:rPr lang="en-US" sz="2400" spc="-75" dirty="0">
                <a:cs typeface="Trebuchet MS"/>
              </a:rPr>
              <a:t>for</a:t>
            </a:r>
            <a:r>
              <a:rPr lang="en-US" sz="2400" spc="-55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our</a:t>
            </a:r>
            <a:r>
              <a:rPr lang="en-US" sz="2400" spc="-70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work</a:t>
            </a:r>
            <a:r>
              <a:rPr lang="en-US" sz="2400" spc="-50" dirty="0">
                <a:cs typeface="Trebuchet MS"/>
              </a:rPr>
              <a:t> </a:t>
            </a:r>
            <a:r>
              <a:rPr lang="en-US" sz="2400" spc="100" dirty="0">
                <a:cs typeface="Trebuchet MS"/>
              </a:rPr>
              <a:t>and</a:t>
            </a:r>
            <a:r>
              <a:rPr lang="en-US" sz="2400" spc="-15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success,</a:t>
            </a:r>
            <a:r>
              <a:rPr lang="en-US" sz="2400" spc="-125" dirty="0">
                <a:cs typeface="Trebuchet MS"/>
              </a:rPr>
              <a:t> </a:t>
            </a:r>
            <a:r>
              <a:rPr lang="en-US" sz="2400" spc="-20" dirty="0">
                <a:cs typeface="Trebuchet MS"/>
              </a:rPr>
              <a:t>ergo </a:t>
            </a:r>
            <a:r>
              <a:rPr lang="en-US" sz="2400" dirty="0">
                <a:cs typeface="Trebuchet MS"/>
              </a:rPr>
              <a:t>provide</a:t>
            </a:r>
            <a:r>
              <a:rPr lang="en-US" sz="2400" spc="-95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inspiration</a:t>
            </a:r>
            <a:r>
              <a:rPr lang="en-US" sz="2400" spc="-50" dirty="0">
                <a:cs typeface="Trebuchet MS"/>
              </a:rPr>
              <a:t> </a:t>
            </a:r>
            <a:r>
              <a:rPr lang="en-US" sz="2400" spc="100" dirty="0">
                <a:cs typeface="Trebuchet MS"/>
              </a:rPr>
              <a:t>and</a:t>
            </a:r>
            <a:r>
              <a:rPr lang="en-US" sz="2400" spc="-50" dirty="0">
                <a:cs typeface="Trebuchet MS"/>
              </a:rPr>
              <a:t> </a:t>
            </a:r>
            <a:r>
              <a:rPr lang="en-US" sz="2400" spc="-35" dirty="0">
                <a:cs typeface="Trebuchet MS"/>
              </a:rPr>
              <a:t>ability</a:t>
            </a:r>
            <a:r>
              <a:rPr lang="en-US" sz="2400" spc="-95" dirty="0">
                <a:cs typeface="Trebuchet MS"/>
              </a:rPr>
              <a:t> </a:t>
            </a:r>
            <a:r>
              <a:rPr lang="en-US" sz="2400" spc="-10" dirty="0">
                <a:cs typeface="Trebuchet MS"/>
              </a:rPr>
              <a:t>to</a:t>
            </a:r>
            <a:r>
              <a:rPr lang="en-US" sz="2400" spc="-50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provide</a:t>
            </a:r>
            <a:r>
              <a:rPr lang="en-US" sz="2400" spc="-50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more</a:t>
            </a:r>
            <a:r>
              <a:rPr lang="en-US" sz="2400" spc="-50" dirty="0">
                <a:cs typeface="Trebuchet MS"/>
              </a:rPr>
              <a:t> </a:t>
            </a:r>
            <a:r>
              <a:rPr lang="en-US" sz="2400" spc="80" dirty="0">
                <a:cs typeface="Trebuchet MS"/>
              </a:rPr>
              <a:t>success </a:t>
            </a:r>
            <a:r>
              <a:rPr lang="en-US" sz="2400" spc="-10" dirty="0">
                <a:cs typeface="Trebuchet MS"/>
              </a:rPr>
              <a:t>stories </a:t>
            </a:r>
            <a:r>
              <a:rPr lang="en-US" sz="2400" spc="70" dirty="0">
                <a:cs typeface="Trebuchet MS"/>
              </a:rPr>
              <a:t>across</a:t>
            </a:r>
            <a:r>
              <a:rPr lang="en-US" sz="2400" spc="-95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the</a:t>
            </a:r>
            <a:r>
              <a:rPr lang="en-US" sz="2400" spc="-70" dirty="0">
                <a:cs typeface="Trebuchet MS"/>
              </a:rPr>
              <a:t> </a:t>
            </a:r>
            <a:r>
              <a:rPr lang="en-US" sz="2400" dirty="0">
                <a:cs typeface="Trebuchet MS"/>
              </a:rPr>
              <a:t>work</a:t>
            </a:r>
            <a:r>
              <a:rPr lang="en-US" sz="2400" spc="-100" dirty="0">
                <a:cs typeface="Trebuchet MS"/>
              </a:rPr>
              <a:t> </a:t>
            </a:r>
            <a:r>
              <a:rPr lang="en-US" sz="2400" spc="-10" dirty="0">
                <a:cs typeface="Trebuchet MS"/>
              </a:rPr>
              <a:t>field.</a:t>
            </a:r>
            <a:endParaRPr lang="en-US" sz="2400" dirty="0"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54382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57938-C055-E46E-5988-42C0CA94F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0080625" cy="7772400"/>
          </a:xfrm>
          <a:prstGeom prst="rect">
            <a:avLst/>
          </a:prstGeom>
          <a:blipFill dpi="0" rotWithShape="1">
            <a:blip r:embed="rId3">
              <a:alphaModFix amt="35000"/>
            </a:blip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DC618E-76B1-2459-B775-EA8DF6FE7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8FB521-1DC1-406D-BE74-CD7AF53C6C98}"/>
              </a:ext>
            </a:extLst>
          </p:cNvPr>
          <p:cNvSpPr txBox="1"/>
          <p:nvPr/>
        </p:nvSpPr>
        <p:spPr>
          <a:xfrm>
            <a:off x="143769" y="1653952"/>
            <a:ext cx="5616624" cy="1661993"/>
          </a:xfrm>
          <a:prstGeom prst="rect">
            <a:avLst/>
          </a:prstGeom>
          <a:solidFill>
            <a:schemeClr val="accent4">
              <a:lumMod val="75000"/>
              <a:alpha val="2902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4800" dirty="0"/>
              <a:t>PROJECTS WE YEILD</a:t>
            </a:r>
          </a:p>
          <a:p>
            <a:endParaRPr lang="en-IN" sz="5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B8118A-033E-A37F-F4DA-DCD65C6D5B68}"/>
              </a:ext>
            </a:extLst>
          </p:cNvPr>
          <p:cNvSpPr txBox="1"/>
          <p:nvPr/>
        </p:nvSpPr>
        <p:spPr>
          <a:xfrm>
            <a:off x="143769" y="2448732"/>
            <a:ext cx="99368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10108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spc="60" dirty="0">
                <a:cs typeface="Trebuchet MS"/>
              </a:rPr>
              <a:t>Concept</a:t>
            </a:r>
            <a:r>
              <a:rPr lang="en-US" sz="2400" spc="-105" dirty="0">
                <a:cs typeface="Trebuchet MS"/>
              </a:rPr>
              <a:t> </a:t>
            </a:r>
            <a:r>
              <a:rPr lang="en-US" sz="2400" spc="45" dirty="0">
                <a:cs typeface="Trebuchet MS"/>
              </a:rPr>
              <a:t>designing </a:t>
            </a:r>
          </a:p>
          <a:p>
            <a:pPr marL="355600" marR="610108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spc="-20" dirty="0">
                <a:cs typeface="Trebuchet MS"/>
              </a:rPr>
              <a:t>Retail </a:t>
            </a:r>
            <a:r>
              <a:rPr lang="en-US" sz="2400" spc="-55" dirty="0">
                <a:cs typeface="Trebuchet MS"/>
              </a:rPr>
              <a:t>S</a:t>
            </a:r>
            <a:r>
              <a:rPr lang="en-US" sz="2400" dirty="0">
                <a:cs typeface="Trebuchet MS"/>
              </a:rPr>
              <a:t>tores</a:t>
            </a:r>
            <a:r>
              <a:rPr lang="en-US" sz="2400" spc="-55" dirty="0">
                <a:cs typeface="Trebuchet MS"/>
              </a:rPr>
              <a:t> </a:t>
            </a:r>
            <a:r>
              <a:rPr lang="en-US" sz="2400" spc="45" dirty="0">
                <a:cs typeface="Trebuchet MS"/>
              </a:rPr>
              <a:t>design </a:t>
            </a:r>
          </a:p>
          <a:p>
            <a:pPr marL="355600" marR="610108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spc="-25" dirty="0">
                <a:cs typeface="Trebuchet MS"/>
              </a:rPr>
              <a:t>Fixture</a:t>
            </a:r>
            <a:r>
              <a:rPr lang="en-US" sz="2400" spc="-95" dirty="0">
                <a:cs typeface="Trebuchet MS"/>
              </a:rPr>
              <a:t> </a:t>
            </a:r>
            <a:r>
              <a:rPr lang="en-US" sz="2400" spc="45" dirty="0">
                <a:cs typeface="Trebuchet MS"/>
              </a:rPr>
              <a:t>design </a:t>
            </a:r>
          </a:p>
          <a:p>
            <a:pPr marL="355600" marR="610108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spc="-10" dirty="0">
                <a:cs typeface="Trebuchet MS"/>
              </a:rPr>
              <a:t>Residential</a:t>
            </a:r>
            <a:endParaRPr lang="en-US" sz="2400" dirty="0"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spc="55" dirty="0">
                <a:cs typeface="Trebuchet MS"/>
              </a:rPr>
              <a:t>Commercial (Hubs)</a:t>
            </a:r>
            <a:endParaRPr lang="en-US" sz="2400" dirty="0">
              <a:cs typeface="Trebuchet M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F681EB-9F85-60FF-33A2-C69DEAADA193}"/>
              </a:ext>
            </a:extLst>
          </p:cNvPr>
          <p:cNvSpPr txBox="1"/>
          <p:nvPr/>
        </p:nvSpPr>
        <p:spPr>
          <a:xfrm>
            <a:off x="4320232" y="4682344"/>
            <a:ext cx="5616624" cy="2585323"/>
          </a:xfrm>
          <a:prstGeom prst="rect">
            <a:avLst/>
          </a:prstGeom>
          <a:solidFill>
            <a:schemeClr val="accent6">
              <a:lumMod val="75000"/>
              <a:alpha val="2902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4800" dirty="0"/>
              <a:t>SERVICE WE OFFER</a:t>
            </a:r>
          </a:p>
          <a:p>
            <a:endParaRPr lang="en-IN" sz="5400" dirty="0"/>
          </a:p>
          <a:p>
            <a:endParaRPr lang="en-IN" sz="5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0D82D5-FD49-A370-E925-FD8D70918D1F}"/>
              </a:ext>
            </a:extLst>
          </p:cNvPr>
          <p:cNvSpPr txBox="1"/>
          <p:nvPr/>
        </p:nvSpPr>
        <p:spPr>
          <a:xfrm>
            <a:off x="143768" y="5419367"/>
            <a:ext cx="9793087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indent="178435">
              <a:lnSpc>
                <a:spcPct val="100000"/>
              </a:lnSpc>
              <a:spcBef>
                <a:spcPts val="459"/>
              </a:spcBef>
              <a:buChar char="•"/>
              <a:tabLst>
                <a:tab pos="191135" algn="l"/>
              </a:tabLst>
            </a:pPr>
            <a:r>
              <a:rPr lang="en-US" sz="2000" spc="85" dirty="0">
                <a:cs typeface="Trebuchet MS"/>
              </a:rPr>
              <a:t>We</a:t>
            </a:r>
            <a:r>
              <a:rPr lang="en-US" sz="2000" spc="254" dirty="0">
                <a:cs typeface="Trebuchet MS"/>
              </a:rPr>
              <a:t> </a:t>
            </a:r>
            <a:r>
              <a:rPr lang="en-US" sz="2000" dirty="0">
                <a:cs typeface="Trebuchet MS"/>
              </a:rPr>
              <a:t>create</a:t>
            </a:r>
            <a:r>
              <a:rPr lang="en-US" sz="2000" spc="254" dirty="0">
                <a:cs typeface="Trebuchet MS"/>
              </a:rPr>
              <a:t> </a:t>
            </a:r>
            <a:r>
              <a:rPr lang="en-US" sz="2000" dirty="0">
                <a:cs typeface="Trebuchet MS"/>
              </a:rPr>
              <a:t>concepts,</a:t>
            </a:r>
            <a:r>
              <a:rPr lang="en-US" sz="2000" spc="165" dirty="0">
                <a:cs typeface="Trebuchet MS"/>
              </a:rPr>
              <a:t> </a:t>
            </a:r>
            <a:r>
              <a:rPr lang="en-US" sz="2000" spc="-25" dirty="0">
                <a:cs typeface="Trebuchet MS"/>
              </a:rPr>
              <a:t>identities,</a:t>
            </a:r>
            <a:r>
              <a:rPr lang="en-US" sz="2000" spc="160" dirty="0">
                <a:cs typeface="Trebuchet MS"/>
              </a:rPr>
              <a:t> </a:t>
            </a:r>
            <a:r>
              <a:rPr lang="en-US" sz="2000" dirty="0">
                <a:cs typeface="Trebuchet MS"/>
              </a:rPr>
              <a:t>strategies,</a:t>
            </a:r>
            <a:r>
              <a:rPr lang="en-US" sz="2000" spc="165" dirty="0">
                <a:cs typeface="Trebuchet MS"/>
              </a:rPr>
              <a:t> </a:t>
            </a:r>
            <a:r>
              <a:rPr lang="en-US" sz="2000" spc="-10" dirty="0">
                <a:cs typeface="Trebuchet MS"/>
              </a:rPr>
              <a:t>retail</a:t>
            </a:r>
            <a:r>
              <a:rPr lang="en-US" sz="2000" spc="254" dirty="0">
                <a:cs typeface="Trebuchet MS"/>
              </a:rPr>
              <a:t> </a:t>
            </a:r>
            <a:r>
              <a:rPr lang="en-US" sz="2000" spc="55" dirty="0">
                <a:cs typeface="Trebuchet MS"/>
              </a:rPr>
              <a:t>communication</a:t>
            </a:r>
            <a:r>
              <a:rPr lang="en-US" sz="2000" spc="254" dirty="0">
                <a:cs typeface="Trebuchet MS"/>
              </a:rPr>
              <a:t> </a:t>
            </a:r>
            <a:r>
              <a:rPr lang="en-US" sz="2000" spc="100" dirty="0">
                <a:cs typeface="Trebuchet MS"/>
              </a:rPr>
              <a:t>and</a:t>
            </a:r>
            <a:r>
              <a:rPr lang="en-US" sz="2000" spc="260" dirty="0">
                <a:cs typeface="Trebuchet MS"/>
              </a:rPr>
              <a:t> </a:t>
            </a:r>
            <a:r>
              <a:rPr lang="en-US" sz="2000" spc="-10" dirty="0">
                <a:cs typeface="Trebuchet MS"/>
              </a:rPr>
              <a:t>interior </a:t>
            </a:r>
            <a:r>
              <a:rPr lang="en-US" sz="2000" spc="-30" dirty="0">
                <a:cs typeface="Trebuchet MS"/>
              </a:rPr>
              <a:t>architecture </a:t>
            </a:r>
            <a:r>
              <a:rPr lang="en-US" sz="2000" spc="-10" dirty="0">
                <a:cs typeface="Trebuchet MS"/>
              </a:rPr>
              <a:t>of</a:t>
            </a:r>
            <a:r>
              <a:rPr lang="en-US" sz="2000" spc="-40" dirty="0">
                <a:cs typeface="Trebuchet MS"/>
              </a:rPr>
              <a:t> different</a:t>
            </a:r>
            <a:r>
              <a:rPr lang="en-US" sz="2000" spc="-10" dirty="0">
                <a:cs typeface="Trebuchet MS"/>
              </a:rPr>
              <a:t> </a:t>
            </a:r>
            <a:r>
              <a:rPr lang="en-US" sz="2000" dirty="0">
                <a:cs typeface="Trebuchet MS"/>
              </a:rPr>
              <a:t>formats</a:t>
            </a:r>
            <a:r>
              <a:rPr lang="en-US" sz="2000" spc="-10" dirty="0">
                <a:cs typeface="Trebuchet MS"/>
              </a:rPr>
              <a:t> </a:t>
            </a:r>
            <a:r>
              <a:rPr lang="en-US" sz="2000" spc="100" dirty="0">
                <a:cs typeface="Trebuchet MS"/>
              </a:rPr>
              <a:t>and</a:t>
            </a:r>
            <a:r>
              <a:rPr lang="en-US" sz="2000" spc="-10" dirty="0">
                <a:cs typeface="Trebuchet MS"/>
              </a:rPr>
              <a:t> </a:t>
            </a:r>
            <a:r>
              <a:rPr lang="en-US" sz="2000" dirty="0">
                <a:cs typeface="Trebuchet MS"/>
              </a:rPr>
              <a:t>categories</a:t>
            </a:r>
            <a:r>
              <a:rPr lang="en-US" sz="2000" spc="-10" dirty="0">
                <a:cs typeface="Trebuchet MS"/>
              </a:rPr>
              <a:t> </a:t>
            </a:r>
            <a:r>
              <a:rPr lang="en-US" sz="2000" spc="-40" dirty="0">
                <a:cs typeface="Trebuchet MS"/>
              </a:rPr>
              <a:t>for</a:t>
            </a:r>
            <a:r>
              <a:rPr lang="en-US" sz="2000" spc="-65" dirty="0">
                <a:cs typeface="Trebuchet MS"/>
              </a:rPr>
              <a:t> </a:t>
            </a:r>
            <a:r>
              <a:rPr lang="en-US" sz="2000" spc="-40" dirty="0">
                <a:cs typeface="Trebuchet MS"/>
              </a:rPr>
              <a:t>different</a:t>
            </a:r>
            <a:r>
              <a:rPr lang="en-US" sz="2000" spc="-10" dirty="0">
                <a:cs typeface="Trebuchet MS"/>
              </a:rPr>
              <a:t> </a:t>
            </a:r>
            <a:r>
              <a:rPr lang="en-US" sz="2000" spc="-55" dirty="0">
                <a:cs typeface="Trebuchet MS"/>
              </a:rPr>
              <a:t>retail</a:t>
            </a:r>
            <a:r>
              <a:rPr lang="en-US" sz="2000" spc="-10" dirty="0">
                <a:cs typeface="Trebuchet MS"/>
              </a:rPr>
              <a:t> brands.</a:t>
            </a:r>
            <a:endParaRPr lang="en-US" sz="2000" dirty="0">
              <a:cs typeface="Trebuchet MS"/>
            </a:endParaRPr>
          </a:p>
          <a:p>
            <a:pPr marL="12700" marR="5715" indent="132715">
              <a:lnSpc>
                <a:spcPct val="100000"/>
              </a:lnSpc>
              <a:spcBef>
                <a:spcPts val="459"/>
              </a:spcBef>
              <a:buChar char="•"/>
              <a:tabLst>
                <a:tab pos="145415" algn="l"/>
              </a:tabLst>
            </a:pPr>
            <a:r>
              <a:rPr lang="en-US" sz="2000" spc="85" dirty="0">
                <a:cs typeface="Trebuchet MS"/>
              </a:rPr>
              <a:t>We</a:t>
            </a:r>
            <a:r>
              <a:rPr lang="en-US" sz="2000" spc="5" dirty="0">
                <a:cs typeface="Trebuchet MS"/>
              </a:rPr>
              <a:t> </a:t>
            </a:r>
            <a:r>
              <a:rPr lang="en-US" sz="2000" dirty="0">
                <a:cs typeface="Trebuchet MS"/>
              </a:rPr>
              <a:t>expertise</a:t>
            </a:r>
            <a:r>
              <a:rPr lang="en-US" sz="2000" spc="5" dirty="0">
                <a:cs typeface="Trebuchet MS"/>
              </a:rPr>
              <a:t> </a:t>
            </a:r>
            <a:r>
              <a:rPr lang="en-US" sz="2000" spc="-20" dirty="0">
                <a:cs typeface="Trebuchet MS"/>
              </a:rPr>
              <a:t>in</a:t>
            </a:r>
            <a:r>
              <a:rPr lang="en-US" sz="2000" spc="5" dirty="0">
                <a:cs typeface="Trebuchet MS"/>
              </a:rPr>
              <a:t> </a:t>
            </a:r>
            <a:r>
              <a:rPr lang="en-US" sz="2000" dirty="0">
                <a:cs typeface="Trebuchet MS"/>
              </a:rPr>
              <a:t>Innovating</a:t>
            </a:r>
            <a:r>
              <a:rPr lang="en-US" sz="2000" spc="5" dirty="0">
                <a:cs typeface="Trebuchet MS"/>
              </a:rPr>
              <a:t> </a:t>
            </a:r>
            <a:r>
              <a:rPr lang="en-US" sz="2000" spc="-55" dirty="0">
                <a:cs typeface="Trebuchet MS"/>
              </a:rPr>
              <a:t>&amp;</a:t>
            </a:r>
            <a:r>
              <a:rPr lang="en-US" sz="2000" spc="5" dirty="0">
                <a:cs typeface="Trebuchet MS"/>
              </a:rPr>
              <a:t> </a:t>
            </a:r>
            <a:r>
              <a:rPr lang="en-US" sz="2000" dirty="0">
                <a:cs typeface="Trebuchet MS"/>
              </a:rPr>
              <a:t>creating</a:t>
            </a:r>
            <a:r>
              <a:rPr lang="en-US" sz="2000" spc="5" dirty="0">
                <a:cs typeface="Trebuchet MS"/>
              </a:rPr>
              <a:t> </a:t>
            </a:r>
            <a:r>
              <a:rPr lang="en-US" sz="2000" dirty="0">
                <a:cs typeface="Trebuchet MS"/>
              </a:rPr>
              <a:t>designs,</a:t>
            </a:r>
            <a:r>
              <a:rPr lang="en-US" sz="2000" spc="-125" dirty="0">
                <a:cs typeface="Trebuchet MS"/>
              </a:rPr>
              <a:t> </a:t>
            </a:r>
            <a:r>
              <a:rPr lang="en-US" sz="2000" dirty="0">
                <a:cs typeface="Trebuchet MS"/>
              </a:rPr>
              <a:t>conceptual</a:t>
            </a:r>
            <a:r>
              <a:rPr lang="en-US" sz="2000" spc="5" dirty="0">
                <a:cs typeface="Trebuchet MS"/>
              </a:rPr>
              <a:t> </a:t>
            </a:r>
            <a:r>
              <a:rPr lang="en-US" sz="2000" spc="-55" dirty="0">
                <a:cs typeface="Trebuchet MS"/>
              </a:rPr>
              <a:t>&amp;</a:t>
            </a:r>
            <a:r>
              <a:rPr lang="en-US" sz="2000" spc="5" dirty="0">
                <a:cs typeface="Trebuchet MS"/>
              </a:rPr>
              <a:t> </a:t>
            </a:r>
            <a:r>
              <a:rPr lang="en-US" sz="2000" spc="55" dirty="0">
                <a:cs typeface="Trebuchet MS"/>
              </a:rPr>
              <a:t>schematic</a:t>
            </a:r>
            <a:r>
              <a:rPr lang="en-US" sz="2000" spc="5" dirty="0">
                <a:cs typeface="Trebuchet MS"/>
              </a:rPr>
              <a:t> </a:t>
            </a:r>
            <a:r>
              <a:rPr lang="en-US" sz="2000" spc="55" dirty="0">
                <a:cs typeface="Trebuchet MS"/>
              </a:rPr>
              <a:t>ideas</a:t>
            </a:r>
            <a:r>
              <a:rPr lang="en-US" sz="2000" spc="5" dirty="0">
                <a:cs typeface="Trebuchet MS"/>
              </a:rPr>
              <a:t> </a:t>
            </a:r>
            <a:r>
              <a:rPr lang="en-US" sz="2000" spc="-25" dirty="0">
                <a:cs typeface="Trebuchet MS"/>
              </a:rPr>
              <a:t>by </a:t>
            </a:r>
            <a:r>
              <a:rPr lang="en-US" sz="2000" spc="45" dirty="0">
                <a:cs typeface="Trebuchet MS"/>
              </a:rPr>
              <a:t>understanding</a:t>
            </a:r>
            <a:r>
              <a:rPr lang="en-US" sz="2000" spc="-125" dirty="0">
                <a:cs typeface="Trebuchet MS"/>
              </a:rPr>
              <a:t> </a:t>
            </a:r>
            <a:r>
              <a:rPr lang="en-US" sz="2000" dirty="0">
                <a:cs typeface="Trebuchet MS"/>
              </a:rPr>
              <a:t>the</a:t>
            </a:r>
            <a:r>
              <a:rPr lang="en-US" sz="2000" spc="-100" dirty="0">
                <a:cs typeface="Trebuchet MS"/>
              </a:rPr>
              <a:t> </a:t>
            </a:r>
            <a:r>
              <a:rPr lang="en-US" sz="2000" spc="-50" dirty="0">
                <a:cs typeface="Trebuchet MS"/>
              </a:rPr>
              <a:t>client’s</a:t>
            </a:r>
            <a:r>
              <a:rPr lang="en-US" sz="2000" spc="-95" dirty="0">
                <a:cs typeface="Trebuchet MS"/>
              </a:rPr>
              <a:t> </a:t>
            </a:r>
            <a:r>
              <a:rPr lang="en-US" sz="2000" spc="60" dirty="0">
                <a:cs typeface="Trebuchet MS"/>
              </a:rPr>
              <a:t>needs</a:t>
            </a:r>
            <a:r>
              <a:rPr lang="en-US" sz="2000" spc="-95" dirty="0">
                <a:cs typeface="Trebuchet MS"/>
              </a:rPr>
              <a:t> </a:t>
            </a:r>
            <a:r>
              <a:rPr lang="en-US" sz="2000" spc="100" dirty="0">
                <a:cs typeface="Trebuchet MS"/>
              </a:rPr>
              <a:t>and</a:t>
            </a:r>
            <a:r>
              <a:rPr lang="en-US" sz="2000" spc="-100" dirty="0">
                <a:cs typeface="Trebuchet MS"/>
              </a:rPr>
              <a:t> </a:t>
            </a:r>
            <a:r>
              <a:rPr lang="en-US" sz="2000" spc="-10" dirty="0">
                <a:cs typeface="Trebuchet MS"/>
              </a:rPr>
              <a:t>briefs.</a:t>
            </a:r>
            <a:endParaRPr lang="en-US" sz="2000" dirty="0">
              <a:cs typeface="Trebuchet MS"/>
            </a:endParaRPr>
          </a:p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dirty="0">
                <a:cs typeface="Trebuchet MS"/>
              </a:rPr>
              <a:t>Delivering</a:t>
            </a:r>
            <a:r>
              <a:rPr lang="en-US" sz="2000" spc="75" dirty="0">
                <a:cs typeface="Trebuchet MS"/>
              </a:rPr>
              <a:t> </a:t>
            </a:r>
            <a:r>
              <a:rPr lang="en-US" sz="2000" dirty="0">
                <a:cs typeface="Trebuchet MS"/>
              </a:rPr>
              <a:t>complete</a:t>
            </a:r>
            <a:r>
              <a:rPr lang="en-US" sz="2000" spc="80" dirty="0">
                <a:cs typeface="Trebuchet MS"/>
              </a:rPr>
              <a:t> </a:t>
            </a:r>
            <a:r>
              <a:rPr lang="en-US" sz="2000" dirty="0">
                <a:cs typeface="Trebuchet MS"/>
              </a:rPr>
              <a:t>detail</a:t>
            </a:r>
            <a:r>
              <a:rPr lang="en-US" sz="2000" spc="80" dirty="0">
                <a:cs typeface="Trebuchet MS"/>
              </a:rPr>
              <a:t> </a:t>
            </a:r>
            <a:r>
              <a:rPr lang="en-US" sz="2000" dirty="0">
                <a:cs typeface="Trebuchet MS"/>
              </a:rPr>
              <a:t>drawings,</a:t>
            </a:r>
            <a:r>
              <a:rPr lang="en-US" sz="2000" spc="-35" dirty="0">
                <a:cs typeface="Trebuchet MS"/>
              </a:rPr>
              <a:t> </a:t>
            </a:r>
            <a:r>
              <a:rPr lang="en-US" sz="2000" dirty="0">
                <a:cs typeface="Trebuchet MS"/>
              </a:rPr>
              <a:t>preparing</a:t>
            </a:r>
            <a:r>
              <a:rPr lang="en-US" sz="2000" spc="80" dirty="0">
                <a:cs typeface="Trebuchet MS"/>
              </a:rPr>
              <a:t> </a:t>
            </a:r>
            <a:r>
              <a:rPr lang="en-US" sz="2000" spc="135" dirty="0">
                <a:cs typeface="Trebuchet MS"/>
              </a:rPr>
              <a:t>BOQs</a:t>
            </a:r>
            <a:r>
              <a:rPr lang="en-US" sz="2000" spc="80" dirty="0">
                <a:cs typeface="Trebuchet MS"/>
              </a:rPr>
              <a:t> </a:t>
            </a:r>
            <a:r>
              <a:rPr lang="en-US" sz="2000" spc="100" dirty="0">
                <a:cs typeface="Trebuchet MS"/>
              </a:rPr>
              <a:t>and</a:t>
            </a:r>
            <a:r>
              <a:rPr lang="en-US" sz="2000" spc="80" dirty="0">
                <a:cs typeface="Trebuchet MS"/>
              </a:rPr>
              <a:t> </a:t>
            </a:r>
            <a:r>
              <a:rPr lang="en-US" sz="2000" spc="105" dirty="0">
                <a:cs typeface="Trebuchet MS"/>
              </a:rPr>
              <a:t>managing</a:t>
            </a:r>
            <a:r>
              <a:rPr lang="en-US" sz="2000" spc="80" dirty="0">
                <a:cs typeface="Trebuchet MS"/>
              </a:rPr>
              <a:t> </a:t>
            </a:r>
            <a:r>
              <a:rPr lang="en-US" sz="2000" spc="-10" dirty="0">
                <a:cs typeface="Trebuchet MS"/>
              </a:rPr>
              <a:t>resources to</a:t>
            </a:r>
            <a:r>
              <a:rPr lang="en-US" sz="2000" spc="-40" dirty="0">
                <a:cs typeface="Trebuchet MS"/>
              </a:rPr>
              <a:t> </a:t>
            </a:r>
            <a:r>
              <a:rPr lang="en-US" sz="2000" dirty="0">
                <a:cs typeface="Trebuchet MS"/>
              </a:rPr>
              <a:t>ensure</a:t>
            </a:r>
            <a:r>
              <a:rPr lang="en-US" sz="2000" spc="-40" dirty="0">
                <a:cs typeface="Trebuchet MS"/>
              </a:rPr>
              <a:t> </a:t>
            </a:r>
            <a:r>
              <a:rPr lang="en-US" sz="2000" dirty="0">
                <a:cs typeface="Trebuchet MS"/>
              </a:rPr>
              <a:t>execution</a:t>
            </a:r>
            <a:r>
              <a:rPr lang="en-US" sz="2000" spc="-40" dirty="0">
                <a:cs typeface="Trebuchet MS"/>
              </a:rPr>
              <a:t> </a:t>
            </a:r>
            <a:r>
              <a:rPr lang="en-US" sz="2000" spc="-10" dirty="0">
                <a:cs typeface="Trebuchet MS"/>
              </a:rPr>
              <a:t>of</a:t>
            </a:r>
            <a:r>
              <a:rPr lang="en-US" sz="2000" spc="-65" dirty="0">
                <a:cs typeface="Trebuchet MS"/>
              </a:rPr>
              <a:t> </a:t>
            </a:r>
            <a:r>
              <a:rPr lang="en-US" sz="2000" spc="-10" dirty="0">
                <a:cs typeface="Trebuchet MS"/>
              </a:rPr>
              <a:t>projects</a:t>
            </a:r>
            <a:r>
              <a:rPr lang="en-US" sz="2000" spc="-40" dirty="0">
                <a:cs typeface="Trebuchet MS"/>
              </a:rPr>
              <a:t> </a:t>
            </a:r>
            <a:r>
              <a:rPr lang="en-US" sz="2000" spc="-10" dirty="0">
                <a:cs typeface="Trebuchet MS"/>
              </a:rPr>
              <a:t>within</a:t>
            </a:r>
            <a:r>
              <a:rPr lang="en-US" sz="2000" spc="-65" dirty="0">
                <a:cs typeface="Trebuchet MS"/>
              </a:rPr>
              <a:t> </a:t>
            </a:r>
            <a:r>
              <a:rPr lang="en-US" sz="2000" dirty="0">
                <a:cs typeface="Trebuchet MS"/>
              </a:rPr>
              <a:t>time</a:t>
            </a:r>
            <a:r>
              <a:rPr lang="en-US" sz="2000" spc="-40" dirty="0">
                <a:cs typeface="Trebuchet MS"/>
              </a:rPr>
              <a:t> </a:t>
            </a:r>
            <a:r>
              <a:rPr lang="en-US" sz="2000" spc="100" dirty="0">
                <a:cs typeface="Trebuchet MS"/>
              </a:rPr>
              <a:t>and</a:t>
            </a:r>
            <a:r>
              <a:rPr lang="en-US" sz="2000" spc="-40" dirty="0">
                <a:cs typeface="Trebuchet MS"/>
              </a:rPr>
              <a:t> </a:t>
            </a:r>
            <a:r>
              <a:rPr lang="en-US" sz="2000" dirty="0">
                <a:cs typeface="Trebuchet MS"/>
              </a:rPr>
              <a:t>budgeted</a:t>
            </a:r>
            <a:r>
              <a:rPr lang="en-US" sz="2000" spc="-35" dirty="0">
                <a:cs typeface="Trebuchet MS"/>
              </a:rPr>
              <a:t> </a:t>
            </a:r>
            <a:r>
              <a:rPr lang="en-US" sz="2000" spc="-10" dirty="0">
                <a:cs typeface="Trebuchet MS"/>
              </a:rPr>
              <a:t>parameters.</a:t>
            </a:r>
            <a:endParaRPr lang="en-US" sz="2000" dirty="0"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555408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8747C4-E16F-86C0-EE59-84D2AE9EE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FBBBDD-D973-A38F-CF18-D75E67000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80625" cy="77724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236F1F1-9205-A7C3-12F4-2B62F2BAB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A99A72-7011-7C30-094F-FB732E6B3334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PROJECTS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97A684-AB50-B564-09C9-5AC2C1C602EF}"/>
              </a:ext>
            </a:extLst>
          </p:cNvPr>
          <p:cNvSpPr/>
          <p:nvPr/>
        </p:nvSpPr>
        <p:spPr>
          <a:xfrm>
            <a:off x="7776616" y="985343"/>
            <a:ext cx="2204767" cy="664527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F969DB-0F3C-74E0-0C66-FCBE204DC792}"/>
              </a:ext>
            </a:extLst>
          </p:cNvPr>
          <p:cNvSpPr txBox="1"/>
          <p:nvPr/>
        </p:nvSpPr>
        <p:spPr>
          <a:xfrm>
            <a:off x="7776616" y="1047072"/>
            <a:ext cx="2160239" cy="606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u="sng" dirty="0">
                <a:cs typeface="Trebuchet MS"/>
              </a:rPr>
              <a:t>BARE BROWN   </a:t>
            </a:r>
            <a:r>
              <a:rPr lang="en-US" sz="2000" dirty="0">
                <a:cs typeface="Trebuchet MS"/>
              </a:rPr>
              <a:t> </a:t>
            </a:r>
          </a:p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dirty="0">
                <a:cs typeface="Trebuchet MS"/>
              </a:rPr>
              <a:t>A </a:t>
            </a:r>
            <a:r>
              <a:rPr lang="en-US" sz="2000" dirty="0"/>
              <a:t>store, where elegance meets simplicity in a store design that invites you to explore and linger. </a:t>
            </a:r>
          </a:p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dirty="0"/>
              <a:t>The space is a harmonious blend of earthy tones and modern aesthetics, with rich browns, soft neutrals, and warm wood accents that create a welcoming atmosphere.  </a:t>
            </a:r>
            <a:endParaRPr lang="en-US" sz="2000" dirty="0">
              <a:cs typeface="Trebuchet M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AEB0C6-0562-8888-922B-5C80AF2C96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41" y="1272778"/>
            <a:ext cx="3663785" cy="477366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B1541EB-CD4C-7E6F-D871-8DE7FB8E7F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186" y="1272778"/>
            <a:ext cx="3585524" cy="297346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13674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B5012D-3236-0C04-AF19-09F6FD786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1F2267-8693-4FAE-168B-BD14390ED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80625" cy="77724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BAFF27B-E306-A500-8C3C-71B862DD5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5B7FCE-BF74-7CA4-4C9B-B309BBC8D728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PROJECTS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67FE51C-B3ED-7E33-1CD1-4E83846B4D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9665" y="1223776"/>
            <a:ext cx="1773413" cy="315273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9DC0BFA-388E-71A8-1EF7-8ED2D34CBA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94" y="1227809"/>
            <a:ext cx="3026742" cy="314466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6377DBE-06F2-D72D-6317-C20DB0E0AF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793" y="1216313"/>
            <a:ext cx="4198293" cy="314466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C5AED02-86CC-47C2-6A71-C9B2DAC28B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94" y="4709317"/>
            <a:ext cx="3530798" cy="26446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575D292-C59D-AFAC-0CC1-EAC59197A9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035" y="4709317"/>
            <a:ext cx="3530798" cy="26446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E7DBCFE-521D-85C2-07E0-A9BA68B9EC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474" y="4709318"/>
            <a:ext cx="1663445" cy="26446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92509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F07477-B19A-6F4F-D36D-2D3559A2A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D0F284-8900-DE76-DB1C-6549CC17C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80625" cy="77724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C0EDAC3-173C-7ADE-45E7-BDEC402D1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E36E21-E30E-2FE3-9F97-DE3FE15C0E81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PROJECTS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ADEACA-6B03-E725-80FD-37B053D92976}"/>
              </a:ext>
            </a:extLst>
          </p:cNvPr>
          <p:cNvSpPr/>
          <p:nvPr/>
        </p:nvSpPr>
        <p:spPr>
          <a:xfrm>
            <a:off x="7776616" y="985343"/>
            <a:ext cx="2204767" cy="664527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2B58E1-37D5-6523-6C0B-0EFC5A01F103}"/>
              </a:ext>
            </a:extLst>
          </p:cNvPr>
          <p:cNvSpPr txBox="1"/>
          <p:nvPr/>
        </p:nvSpPr>
        <p:spPr>
          <a:xfrm>
            <a:off x="7776616" y="1047072"/>
            <a:ext cx="2160239" cy="674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u="sng" dirty="0" err="1">
                <a:cs typeface="Trebuchet MS"/>
              </a:rPr>
              <a:t>Ramraj</a:t>
            </a:r>
            <a:r>
              <a:rPr lang="en-US" sz="2000" u="sng" dirty="0">
                <a:cs typeface="Trebuchet MS"/>
              </a:rPr>
              <a:t> cotton </a:t>
            </a:r>
            <a:r>
              <a:rPr lang="en-US" sz="2000" dirty="0">
                <a:cs typeface="Trebuchet MS"/>
              </a:rPr>
              <a:t>Men and Women  apparel store. </a:t>
            </a:r>
          </a:p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dirty="0">
                <a:cs typeface="Trebuchet MS"/>
              </a:rPr>
              <a:t>A store that revolves and reflects the brands core value  simplicity, tradition and authenticity.</a:t>
            </a:r>
            <a:endParaRPr lang="en-US" sz="2000" spc="-10" dirty="0"/>
          </a:p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dirty="0"/>
              <a:t>Store design blends modern retail layouts with elements and Indian heritage reflecting an organic feel, earthy tone furniture and soft lighting.</a:t>
            </a:r>
          </a:p>
          <a:p>
            <a:pPr marL="12700" marR="10795">
              <a:lnSpc>
                <a:spcPct val="100000"/>
              </a:lnSpc>
              <a:spcBef>
                <a:spcPts val="464"/>
              </a:spcBef>
              <a:tabLst>
                <a:tab pos="161290" algn="l"/>
              </a:tabLst>
            </a:pPr>
            <a:r>
              <a:rPr lang="en-US" sz="2000" dirty="0"/>
              <a:t> </a:t>
            </a:r>
            <a:endParaRPr lang="en-US" sz="2000" dirty="0">
              <a:cs typeface="Trebuchet M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2A22AB-AC09-421C-2627-45CA5E5E96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19" t="3157" r="18244" b="12913"/>
          <a:stretch/>
        </p:blipFill>
        <p:spPr>
          <a:xfrm>
            <a:off x="359792" y="1293912"/>
            <a:ext cx="3032953" cy="504055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9BA9AF-194C-87C4-4037-589204929C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77" r="1946"/>
          <a:stretch/>
        </p:blipFill>
        <p:spPr>
          <a:xfrm>
            <a:off x="3816176" y="1725960"/>
            <a:ext cx="3784262" cy="350646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37893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EA8592-9E55-B2D1-23EF-F5261EB83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0812F4-3A00-8E6E-B502-6D8A60812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80625" cy="77724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48182F4-A8A4-6CC8-6E67-5DB3747E3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23EE39-34BC-0F95-0A33-89920E7C8B56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PROJECTS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A979CD-2922-30A0-AE90-A37E950CA5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08" y="1221905"/>
            <a:ext cx="4121757" cy="309634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8A7DE15-A9FD-C9B1-4303-E022A82DE9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08" y="4480266"/>
            <a:ext cx="4104456" cy="307834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75B211-0E0D-D25E-D09D-5CF3A8DA4E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296" y="1221904"/>
            <a:ext cx="4536504" cy="310821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1C1EF4-810C-C515-852C-B6B5EB2154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232" y="4462264"/>
            <a:ext cx="4608512" cy="309634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1673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57938-C055-E46E-5988-42C0CA94F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0080625" cy="77724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DC618E-76B1-2459-B775-EA8DF6FE7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8FB521-1DC1-406D-BE74-CD7AF53C6C98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PROJECTS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EE634D-724F-8F39-8551-3612CBFD15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523" y="4610441"/>
            <a:ext cx="3883577" cy="280831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990624-11CA-6B7F-8AD2-703285A7D15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8766"/>
          <a:stretch/>
        </p:blipFill>
        <p:spPr>
          <a:xfrm>
            <a:off x="749357" y="1537626"/>
            <a:ext cx="4090792" cy="279913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8AFB78-1B69-C9C4-6417-3808778380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17" y="4610441"/>
            <a:ext cx="2099350" cy="279913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29536A-6FE0-B51D-C3FE-78C42F3374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311" y="1537626"/>
            <a:ext cx="2683180" cy="283312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81EA873-C04C-349E-C568-F46D68C088D7}"/>
              </a:ext>
            </a:extLst>
          </p:cNvPr>
          <p:cNvSpPr/>
          <p:nvPr/>
        </p:nvSpPr>
        <p:spPr>
          <a:xfrm>
            <a:off x="7875858" y="1057351"/>
            <a:ext cx="2054577" cy="633168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A04BB1-A1DC-BB82-6159-D67746A7E062}"/>
              </a:ext>
            </a:extLst>
          </p:cNvPr>
          <p:cNvSpPr txBox="1"/>
          <p:nvPr/>
        </p:nvSpPr>
        <p:spPr>
          <a:xfrm>
            <a:off x="8008006" y="1293912"/>
            <a:ext cx="2054577" cy="6440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u="sng" dirty="0">
                <a:cs typeface="Trebuchet MS"/>
              </a:rPr>
              <a:t>Manyavar Mohey </a:t>
            </a:r>
            <a:r>
              <a:rPr lang="en-US" sz="2000" dirty="0">
                <a:cs typeface="Trebuchet MS"/>
              </a:rPr>
              <a:t>-Men and Women Ethnic apparel store. </a:t>
            </a:r>
          </a:p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dirty="0">
                <a:cs typeface="Trebuchet MS"/>
              </a:rPr>
              <a:t>A store space created to</a:t>
            </a:r>
            <a:r>
              <a:rPr lang="en-US" sz="2000" dirty="0"/>
              <a:t> include, culture resonant, and reflects the diversity within the target audience. </a:t>
            </a:r>
            <a:endParaRPr lang="en-US" sz="2000" spc="-10" dirty="0"/>
          </a:p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dirty="0"/>
              <a:t>Authentic materials, patterns, and colors that resonate with the ethnic backgrounds.</a:t>
            </a:r>
          </a:p>
          <a:p>
            <a:pPr marL="12700" marR="10795">
              <a:lnSpc>
                <a:spcPct val="100000"/>
              </a:lnSpc>
              <a:spcBef>
                <a:spcPts val="464"/>
              </a:spcBef>
              <a:tabLst>
                <a:tab pos="161290" algn="l"/>
              </a:tabLst>
            </a:pPr>
            <a:r>
              <a:rPr lang="en-US" sz="2000" dirty="0"/>
              <a:t> </a:t>
            </a:r>
            <a:endParaRPr lang="en-US" sz="2000" dirty="0"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539274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57938-C055-E46E-5988-42C0CA94F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8" y="-2232"/>
            <a:ext cx="10080625" cy="7772400"/>
          </a:xfrm>
          <a:prstGeom prst="rect">
            <a:avLst/>
          </a:prstGeom>
          <a:blipFill dpi="0" rotWithShape="1">
            <a:blip r:embed="rId3">
              <a:alphaModFix amt="35000"/>
            </a:blip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DC618E-76B1-2459-B775-EA8DF6FE7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73E1AF-238E-3C48-F56D-FA9DDFC79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816" y="1437928"/>
            <a:ext cx="4248472" cy="283120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4373B0-C943-0691-0960-F77412CC72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0351" y="1437928"/>
            <a:ext cx="4248471" cy="283120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6E2ECAB-FF55-6823-E3F6-3B30F11671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815" y="4629176"/>
            <a:ext cx="4296769" cy="286339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1FC14A3-4981-2BD1-C534-3035D6C54C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0351" y="4540116"/>
            <a:ext cx="3936605" cy="295245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07419A-A118-4721-A891-B11199BF4B68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PROJECTS</a:t>
            </a:r>
          </a:p>
        </p:txBody>
      </p:sp>
    </p:spTree>
    <p:extLst>
      <p:ext uri="{BB962C8B-B14F-4D97-AF65-F5344CB8AC3E}">
        <p14:creationId xmlns:p14="http://schemas.microsoft.com/office/powerpoint/2010/main" val="2903971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894733-A0B9-B379-5C2F-9F37EEFD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42830D-953B-A0EB-AD2B-62F63EC60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80625" cy="77724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55691D4-9CF7-0328-34B5-AD0A1AFF0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EE85D9-1B66-EAB9-CF6C-C37F06C8230F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PROJECTS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DE607C-23B9-9540-B79B-65DF685FCA02}"/>
              </a:ext>
            </a:extLst>
          </p:cNvPr>
          <p:cNvSpPr/>
          <p:nvPr/>
        </p:nvSpPr>
        <p:spPr>
          <a:xfrm>
            <a:off x="7776616" y="985343"/>
            <a:ext cx="2204767" cy="664527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08D366-2445-A854-EE8C-95664F128E56}"/>
              </a:ext>
            </a:extLst>
          </p:cNvPr>
          <p:cNvSpPr txBox="1"/>
          <p:nvPr/>
        </p:nvSpPr>
        <p:spPr>
          <a:xfrm>
            <a:off x="7776616" y="1047072"/>
            <a:ext cx="2160239" cy="6376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u="sng" dirty="0">
                <a:cs typeface="Trebuchet MS"/>
              </a:rPr>
              <a:t>TTK PRESTIGE</a:t>
            </a:r>
            <a:endParaRPr lang="en-US" sz="2000" dirty="0">
              <a:cs typeface="Trebuchet MS"/>
            </a:endParaRPr>
          </a:p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dirty="0"/>
              <a:t>Store is designed as a premium, experience-driven retail space that showcases a full range of kitchen appliances, cookware, and home utility products. </a:t>
            </a:r>
          </a:p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dirty="0"/>
              <a:t>The design language reflects modern minimalism, clear product visibility, strong brand communication, and an organized category.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5044F3-45CF-9BF9-A1F1-C91B9D7FA9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74" b="6682"/>
          <a:stretch>
            <a:fillRect/>
          </a:stretch>
        </p:blipFill>
        <p:spPr>
          <a:xfrm>
            <a:off x="243256" y="1162181"/>
            <a:ext cx="3788944" cy="272401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1A3F29-3DED-FDED-6A8B-8921218467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456" y="1156742"/>
            <a:ext cx="3422485" cy="272401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F513C7-8F8E-3AAE-2509-E3D411E8C2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64" y="4119419"/>
            <a:ext cx="5139899" cy="308393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9929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46A8E4-75E4-B649-2135-14D394137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9CDC4E-DD89-7941-3EEF-A6DD77DD1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80625" cy="77724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4FBAB20-C5B3-7489-6D63-34C8194F0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6BDCF1-9283-F946-B2C2-B860047AB2A2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PROJECTS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05F2BE-70E5-8282-8EBF-BC7B77B02CC7}"/>
              </a:ext>
            </a:extLst>
          </p:cNvPr>
          <p:cNvSpPr/>
          <p:nvPr/>
        </p:nvSpPr>
        <p:spPr>
          <a:xfrm>
            <a:off x="7776616" y="985343"/>
            <a:ext cx="2204767" cy="664527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D96AA8-BF8A-B4EF-D3F5-53D3B0E2AA5F}"/>
              </a:ext>
            </a:extLst>
          </p:cNvPr>
          <p:cNvSpPr txBox="1"/>
          <p:nvPr/>
        </p:nvSpPr>
        <p:spPr>
          <a:xfrm>
            <a:off x="7776616" y="1047072"/>
            <a:ext cx="2160239" cy="674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u="sng" dirty="0">
                <a:cs typeface="Trebuchet MS"/>
              </a:rPr>
              <a:t>Wellness and Beauty center.</a:t>
            </a:r>
          </a:p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dirty="0"/>
              <a:t>A dedicated spaces that offer a variety of services to enhance physical health, mental relaxation, and aesthetic appeal.</a:t>
            </a:r>
          </a:p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dirty="0"/>
              <a:t>A wellness center's interior design evokes luxury through a harmonious blend of soft lighting, natural materials, soothing colors, ergonomic furnishings.</a:t>
            </a:r>
          </a:p>
          <a:p>
            <a:pPr marL="12700" marR="10795">
              <a:lnSpc>
                <a:spcPct val="100000"/>
              </a:lnSpc>
              <a:spcBef>
                <a:spcPts val="464"/>
              </a:spcBef>
              <a:tabLst>
                <a:tab pos="161290" algn="l"/>
              </a:tabLst>
            </a:pPr>
            <a:r>
              <a:rPr lang="en-US" sz="2000" dirty="0"/>
              <a:t> </a:t>
            </a:r>
            <a:endParaRPr lang="en-US" sz="2000" dirty="0">
              <a:cs typeface="Trebuchet M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D9A30B-DAF3-82C5-470D-440FA40D42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38" y="1296904"/>
            <a:ext cx="2304256" cy="307636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DA772D-35E2-D95F-4B7E-8AC7E31441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448" y="1318003"/>
            <a:ext cx="2288453" cy="305526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AE7136-7977-F7E1-A8FB-E0BE389867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955" y="1319181"/>
            <a:ext cx="2287570" cy="305408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02E2AA-BDA1-0712-5665-171855301C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38" y="4739556"/>
            <a:ext cx="3744168" cy="249641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EB2952C-8054-5A0F-5CDB-B99643233D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039" y="4762080"/>
            <a:ext cx="3332844" cy="249641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97150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D99826-0A29-267C-C393-6566BF2DB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69FD99-2C15-ECD4-99FD-01C669D25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80625" cy="77724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3F2E9A-C5DF-C7D4-9D08-3C7B2FC8A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CF9776-01DD-5A24-2F7D-4F5DA2681B54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PROJECTS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D3EA78-0E8E-F8DB-5FE1-791815C5D6D3}"/>
              </a:ext>
            </a:extLst>
          </p:cNvPr>
          <p:cNvSpPr/>
          <p:nvPr/>
        </p:nvSpPr>
        <p:spPr>
          <a:xfrm>
            <a:off x="7776616" y="985343"/>
            <a:ext cx="2204767" cy="95664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A0CD69-9F0D-8B89-F1C0-4E797C562AA6}"/>
              </a:ext>
            </a:extLst>
          </p:cNvPr>
          <p:cNvSpPr txBox="1"/>
          <p:nvPr/>
        </p:nvSpPr>
        <p:spPr>
          <a:xfrm>
            <a:off x="7776616" y="1047072"/>
            <a:ext cx="21602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u="sng" dirty="0">
                <a:cs typeface="Trebuchet MS"/>
              </a:rPr>
              <a:t>Residential projects.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B1C93-AA64-45D0-86CC-6E5A5B33B4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16" y="1362536"/>
            <a:ext cx="3364885" cy="252366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BF6DD1-C55F-FE3E-37D1-64CCE3EC83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497" y="1308132"/>
            <a:ext cx="3364886" cy="252366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9010AB-0FE7-D51C-EF10-1B5500A32D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16" y="4319546"/>
            <a:ext cx="3364885" cy="273618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AFA348-1F7B-147F-8332-EF16F25B1A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497" y="4210738"/>
            <a:ext cx="3440190" cy="278633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1225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F5B19-B89C-7C34-47DF-0750EF0A1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C6D974-E238-4DA8-350B-EF8FEDFB3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80625" cy="77724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75A8BE5-62D3-7366-6F12-79B7BA9E4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0087DD-550F-DFE0-5F0D-C626F7FE7EFE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PROJECTS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E29CB7-49CB-55B1-6E05-0BD9023BC5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84" y="1302774"/>
            <a:ext cx="2871458" cy="287145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A24DD0-DBA7-BDF5-0970-7EFD2649F1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684" y="1297931"/>
            <a:ext cx="2871458" cy="287145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DF4A849-B1EA-E8CB-06E3-05C7004CCB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05"/>
          <a:stretch>
            <a:fillRect/>
          </a:stretch>
        </p:blipFill>
        <p:spPr>
          <a:xfrm>
            <a:off x="191549" y="4831888"/>
            <a:ext cx="4200691" cy="258932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D8A0E66-2191-50FB-1429-3328D7E9D9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1"/>
          <a:stretch>
            <a:fillRect/>
          </a:stretch>
        </p:blipFill>
        <p:spPr>
          <a:xfrm>
            <a:off x="5040312" y="4824888"/>
            <a:ext cx="4704748" cy="258932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1DFB12A-D45C-D003-CFC4-07BD6965C95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676" y="1653952"/>
            <a:ext cx="3242385" cy="216024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6972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57938-C055-E46E-5988-42C0CA94F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" y="2232"/>
            <a:ext cx="10080625" cy="7772400"/>
          </a:xfrm>
          <a:prstGeom prst="rect">
            <a:avLst/>
          </a:prstGeom>
          <a:blipFill dpi="0" rotWithShape="1">
            <a:blip r:embed="rId3">
              <a:alphaModFix amt="35000"/>
            </a:blip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DC618E-76B1-2459-B775-EA8DF6FE7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74EEC8-5950-D880-DCE5-2803841D43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7405" y="1402868"/>
            <a:ext cx="2664296" cy="2873721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23A258-51E9-3589-075A-36BFD040783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6563" y="1474520"/>
            <a:ext cx="3733800" cy="28003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7249A6-B8CF-6C48-7749-68F25F0D1A8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134" y="4822304"/>
            <a:ext cx="3456384" cy="25922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2EBDBC-6E5B-7712-CBA1-6F9A5BA710AF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5103" y="4835907"/>
            <a:ext cx="3303008" cy="247725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5EFA2F-7BD3-1437-BF09-442C2C6CA8FB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PROJECTS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831E39-5109-2DD4-313B-0D5765EDC70E}"/>
              </a:ext>
            </a:extLst>
          </p:cNvPr>
          <p:cNvSpPr/>
          <p:nvPr/>
        </p:nvSpPr>
        <p:spPr>
          <a:xfrm>
            <a:off x="7875858" y="1057351"/>
            <a:ext cx="2054577" cy="633168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2EA153-5FB0-3499-A54A-9055B8D725A9}"/>
              </a:ext>
            </a:extLst>
          </p:cNvPr>
          <p:cNvSpPr txBox="1"/>
          <p:nvPr/>
        </p:nvSpPr>
        <p:spPr>
          <a:xfrm>
            <a:off x="8008006" y="1293912"/>
            <a:ext cx="2054577" cy="3541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u="sng" dirty="0">
                <a:cs typeface="Trebuchet MS"/>
              </a:rPr>
              <a:t>Raymond. </a:t>
            </a:r>
          </a:p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dirty="0"/>
              <a:t>Store design reflects the brand's ethos, characterized by understated elegance and a harmonious fusion of modern aesthetics and timeless charm.</a:t>
            </a:r>
            <a:endParaRPr lang="en-US" sz="2000" dirty="0"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922669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57938-C055-E46E-5988-42C0CA94F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" y="2232"/>
            <a:ext cx="10080625" cy="7772400"/>
          </a:xfrm>
          <a:prstGeom prst="rect">
            <a:avLst/>
          </a:prstGeom>
          <a:blipFill dpi="0" rotWithShape="1">
            <a:blip r:embed="rId3">
              <a:alphaModFix amt="35000"/>
            </a:blip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DC618E-76B1-2459-B775-EA8DF6FE7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pic>
        <p:nvPicPr>
          <p:cNvPr id="9" name="Picture 5" descr="C:\Users\vinaysingh\Desktop\TRS Mulund store pics\20160826_184225.jpg">
            <a:extLst>
              <a:ext uri="{FF2B5EF4-FFF2-40B4-BE49-F238E27FC236}">
                <a16:creationId xmlns:a16="http://schemas.microsoft.com/office/drawing/2014/main" id="{DF67C8FC-158F-EED7-A25C-333711FC6D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953" b="9751"/>
          <a:stretch/>
        </p:blipFill>
        <p:spPr bwMode="auto">
          <a:xfrm>
            <a:off x="588288" y="1584914"/>
            <a:ext cx="4290951" cy="2627746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:\Users\vinaysingh\Desktop\TRS Mulund store pics\20160826_182130.jpg">
            <a:extLst>
              <a:ext uri="{FF2B5EF4-FFF2-40B4-BE49-F238E27FC236}">
                <a16:creationId xmlns:a16="http://schemas.microsoft.com/office/drawing/2014/main" id="{4355B2FB-8D5B-6ABE-62B1-B92C8CF4C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304" y="1581944"/>
            <a:ext cx="4419600" cy="2630715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5" descr="C:\Users\vinaysingh\Desktop\TRS Mulund store pics\20160826_174608.jpg">
            <a:extLst>
              <a:ext uri="{FF2B5EF4-FFF2-40B4-BE49-F238E27FC236}">
                <a16:creationId xmlns:a16="http://schemas.microsoft.com/office/drawing/2014/main" id="{C5EB4A60-196C-941A-1CC4-D7C616DB0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87" y="4389220"/>
            <a:ext cx="4249885" cy="2529693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:\Users\vinaysingh\Desktop\TRS Mulund store pics\20160826_174344.jpg">
            <a:extLst>
              <a:ext uri="{FF2B5EF4-FFF2-40B4-BE49-F238E27FC236}">
                <a16:creationId xmlns:a16="http://schemas.microsoft.com/office/drawing/2014/main" id="{02395489-3D72-A52D-E748-2C43FE26E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304" y="4389220"/>
            <a:ext cx="4419600" cy="2528703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3E35CE-CE4E-814A-EBC9-FC352509B0C3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PROJECTS</a:t>
            </a:r>
          </a:p>
        </p:txBody>
      </p:sp>
    </p:spTree>
    <p:extLst>
      <p:ext uri="{BB962C8B-B14F-4D97-AF65-F5344CB8AC3E}">
        <p14:creationId xmlns:p14="http://schemas.microsoft.com/office/powerpoint/2010/main" val="3364829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57938-C055-E46E-5988-42C0CA94F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" y="2232"/>
            <a:ext cx="10080625" cy="7772400"/>
          </a:xfrm>
          <a:prstGeom prst="rect">
            <a:avLst/>
          </a:prstGeom>
          <a:blipFill dpi="0" rotWithShape="1">
            <a:blip r:embed="rId3">
              <a:alphaModFix amt="35000"/>
            </a:blip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DC618E-76B1-2459-B775-EA8DF6FE7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pic>
        <p:nvPicPr>
          <p:cNvPr id="3" name="Picture 6" descr="C:\Users\vinaysingh\Desktop\TRS Mulund store pics\20160826_180729.jpg">
            <a:extLst>
              <a:ext uri="{FF2B5EF4-FFF2-40B4-BE49-F238E27FC236}">
                <a16:creationId xmlns:a16="http://schemas.microsoft.com/office/drawing/2014/main" id="{CE4848B8-AAEE-73A4-E4C2-B2CDAC86E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832" y="1581944"/>
            <a:ext cx="4266210" cy="253306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" name="Picture 2" descr="C:\Users\vinaysingh\Desktop\TRS Mulund store pics\20160826_175749.jpg">
            <a:extLst>
              <a:ext uri="{FF2B5EF4-FFF2-40B4-BE49-F238E27FC236}">
                <a16:creationId xmlns:a16="http://schemas.microsoft.com/office/drawing/2014/main" id="{2DCF917F-E702-27B5-B047-E6FFEF5AA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832" y="4477544"/>
            <a:ext cx="4311904" cy="252650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3" descr="C:\Users\vinaysingh\Desktop\TRS Mulund store pics\20160826_180844.jpg">
            <a:extLst>
              <a:ext uri="{FF2B5EF4-FFF2-40B4-BE49-F238E27FC236}">
                <a16:creationId xmlns:a16="http://schemas.microsoft.com/office/drawing/2014/main" id="{1E175FBD-8C85-0957-1547-98F4CEB96E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3"/>
          <a:stretch/>
        </p:blipFill>
        <p:spPr bwMode="auto">
          <a:xfrm>
            <a:off x="5328344" y="1581944"/>
            <a:ext cx="4083064" cy="252531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Picture 2" descr="C:\Users\vinaysingh\Desktop\TRS Mulund store pics\20160826_180810.jpg">
            <a:extLst>
              <a:ext uri="{FF2B5EF4-FFF2-40B4-BE49-F238E27FC236}">
                <a16:creationId xmlns:a16="http://schemas.microsoft.com/office/drawing/2014/main" id="{B464EAA3-F07A-BB9D-6ABD-F08C3F41D0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16"/>
          <a:stretch/>
        </p:blipFill>
        <p:spPr bwMode="auto">
          <a:xfrm rot="5400000">
            <a:off x="5288687" y="4490690"/>
            <a:ext cx="2440941" cy="236219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EE1D9E-45D1-99D2-9F19-2D9617173FF1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PROJECTS</a:t>
            </a:r>
          </a:p>
        </p:txBody>
      </p:sp>
    </p:spTree>
    <p:extLst>
      <p:ext uri="{BB962C8B-B14F-4D97-AF65-F5344CB8AC3E}">
        <p14:creationId xmlns:p14="http://schemas.microsoft.com/office/powerpoint/2010/main" val="719291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57938-C055-E46E-5988-42C0CA94F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" y="2232"/>
            <a:ext cx="10080625" cy="7772400"/>
          </a:xfrm>
          <a:prstGeom prst="rect">
            <a:avLst/>
          </a:prstGeom>
          <a:blipFill dpi="0" rotWithShape="1">
            <a:blip r:embed="rId3">
              <a:alphaModFix amt="35000"/>
            </a:blip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DC618E-76B1-2459-B775-EA8DF6FE7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AA806D-CCB1-1561-CE39-317477C0EF9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81" y="1437928"/>
            <a:ext cx="3694216" cy="255653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" name="Picture 3" descr="D:\docket\800 sqft\Final Views\Left_rear_cam_final.jpg">
            <a:extLst>
              <a:ext uri="{FF2B5EF4-FFF2-40B4-BE49-F238E27FC236}">
                <a16:creationId xmlns:a16="http://schemas.microsoft.com/office/drawing/2014/main" id="{68D9CEC3-EB13-4804-E792-217127125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797" y="4193500"/>
            <a:ext cx="3810000" cy="2540000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D:\docket\800 sqft\Final Views\Right_rear_cam_final.jpg">
            <a:extLst>
              <a:ext uri="{FF2B5EF4-FFF2-40B4-BE49-F238E27FC236}">
                <a16:creationId xmlns:a16="http://schemas.microsoft.com/office/drawing/2014/main" id="{004BE4C4-C778-C49B-45F1-16B8BF652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864" y="4210035"/>
            <a:ext cx="3810000" cy="2540000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5" descr="D:\docket\800 sqft\Final Views\Front_cam_Final.jpg">
            <a:extLst>
              <a:ext uri="{FF2B5EF4-FFF2-40B4-BE49-F238E27FC236}">
                <a16:creationId xmlns:a16="http://schemas.microsoft.com/office/drawing/2014/main" id="{92FB42BE-8899-A801-5565-F464DAFA8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864" y="1454463"/>
            <a:ext cx="3810000" cy="2540000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82F066-1C38-BF58-5E15-DF1740BD8A2D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PROJECTS</a:t>
            </a:r>
          </a:p>
        </p:txBody>
      </p:sp>
    </p:spTree>
    <p:extLst>
      <p:ext uri="{BB962C8B-B14F-4D97-AF65-F5344CB8AC3E}">
        <p14:creationId xmlns:p14="http://schemas.microsoft.com/office/powerpoint/2010/main" val="1746726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57938-C055-E46E-5988-42C0CA94F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" y="2232"/>
            <a:ext cx="10080625" cy="7772400"/>
          </a:xfrm>
          <a:prstGeom prst="rect">
            <a:avLst/>
          </a:prstGeom>
          <a:blipFill dpi="0" rotWithShape="1">
            <a:blip r:embed="rId3">
              <a:alphaModFix amt="35000"/>
            </a:blip>
            <a:srcRect/>
            <a:tile tx="0" ty="0" sx="100000" sy="100000" flip="none" algn="tl"/>
          </a:blipFill>
          <a:ln w="76200">
            <a:solidFill>
              <a:srgbClr val="39353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DC618E-76B1-2459-B775-EA8DF6FE7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pic>
        <p:nvPicPr>
          <p:cNvPr id="3" name="object 11">
            <a:extLst>
              <a:ext uri="{FF2B5EF4-FFF2-40B4-BE49-F238E27FC236}">
                <a16:creationId xmlns:a16="http://schemas.microsoft.com/office/drawing/2014/main" id="{A09E2DFB-B6A7-2604-2C2D-3F351F9573C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8047" y="1778953"/>
            <a:ext cx="3368170" cy="232327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" name="object 12">
            <a:extLst>
              <a:ext uri="{FF2B5EF4-FFF2-40B4-BE49-F238E27FC236}">
                <a16:creationId xmlns:a16="http://schemas.microsoft.com/office/drawing/2014/main" id="{386AB5EE-C9B7-D244-874B-321EB6FB814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64248" y="1778953"/>
            <a:ext cx="3096344" cy="232327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object 11">
            <a:extLst>
              <a:ext uri="{FF2B5EF4-FFF2-40B4-BE49-F238E27FC236}">
                <a16:creationId xmlns:a16="http://schemas.microsoft.com/office/drawing/2014/main" id="{B947ACEB-83EB-6391-EB2F-4156C967AA52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64249" y="4600323"/>
            <a:ext cx="3096344" cy="224319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object 13">
            <a:extLst>
              <a:ext uri="{FF2B5EF4-FFF2-40B4-BE49-F238E27FC236}">
                <a16:creationId xmlns:a16="http://schemas.microsoft.com/office/drawing/2014/main" id="{B689720F-98C6-F335-C777-A382D02F2B51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3150" y="4600323"/>
            <a:ext cx="3363067" cy="224319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2282B6-3192-A907-79F4-C2934CB21A7E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PROJECTS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39B25D-C240-EA91-3EE0-1214A2EC7334}"/>
              </a:ext>
            </a:extLst>
          </p:cNvPr>
          <p:cNvSpPr/>
          <p:nvPr/>
        </p:nvSpPr>
        <p:spPr>
          <a:xfrm>
            <a:off x="7875858" y="1057351"/>
            <a:ext cx="2054577" cy="633168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FAA942-0537-EC30-B7D0-EE3263CD9549}"/>
              </a:ext>
            </a:extLst>
          </p:cNvPr>
          <p:cNvSpPr txBox="1"/>
          <p:nvPr/>
        </p:nvSpPr>
        <p:spPr>
          <a:xfrm>
            <a:off x="7800762" y="1077888"/>
            <a:ext cx="2204768" cy="6376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u="sng" dirty="0">
                <a:cs typeface="Trebuchet MS"/>
              </a:rPr>
              <a:t>Electronics store. </a:t>
            </a:r>
          </a:p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dirty="0"/>
              <a:t>A Hub, where the future of technology unfolds in a space designed to inspire, engage, and elevate  electronic retail experience.</a:t>
            </a:r>
          </a:p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dirty="0"/>
              <a:t>The store  designed is clean, with a futuristic touch, creating an atmosphere that reflects the cutting-edge nature of the products on display.</a:t>
            </a:r>
          </a:p>
        </p:txBody>
      </p:sp>
    </p:spTree>
    <p:extLst>
      <p:ext uri="{BB962C8B-B14F-4D97-AF65-F5344CB8AC3E}">
        <p14:creationId xmlns:p14="http://schemas.microsoft.com/office/powerpoint/2010/main" val="2603758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57938-C055-E46E-5988-42C0CA94F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" y="2232"/>
            <a:ext cx="10080625" cy="7772400"/>
          </a:xfrm>
          <a:prstGeom prst="rect">
            <a:avLst/>
          </a:prstGeom>
          <a:blipFill dpi="0" rotWithShape="1">
            <a:blip r:embed="rId3">
              <a:alphaModFix amt="35000"/>
            </a:blip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DC618E-76B1-2459-B775-EA8DF6FE7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E46119-8909-86AF-840B-96460505E4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11" y="1322788"/>
            <a:ext cx="4508267" cy="270742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19DDD3-956B-26FE-4DA3-551351A334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336" y="1300289"/>
            <a:ext cx="4125660" cy="268837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634458-C164-CB3F-069F-2B42369FBD6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003"/>
          <a:stretch/>
        </p:blipFill>
        <p:spPr>
          <a:xfrm>
            <a:off x="439984" y="4328241"/>
            <a:ext cx="4510094" cy="270742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FE969BC-07DF-1507-8773-235B3501C8C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662"/>
          <a:stretch/>
        </p:blipFill>
        <p:spPr>
          <a:xfrm>
            <a:off x="5271960" y="4261760"/>
            <a:ext cx="4520880" cy="274753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FBBE33-60DA-5ECE-DF5F-DBF320BEE881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PROJECTS</a:t>
            </a:r>
          </a:p>
        </p:txBody>
      </p:sp>
    </p:spTree>
    <p:extLst>
      <p:ext uri="{BB962C8B-B14F-4D97-AF65-F5344CB8AC3E}">
        <p14:creationId xmlns:p14="http://schemas.microsoft.com/office/powerpoint/2010/main" val="1959656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3B38B67-3096-0D9D-F641-3AAF8A6F646D}"/>
              </a:ext>
            </a:extLst>
          </p:cNvPr>
          <p:cNvSpPr/>
          <p:nvPr/>
        </p:nvSpPr>
        <p:spPr>
          <a:xfrm>
            <a:off x="7822057" y="1077888"/>
            <a:ext cx="2054577" cy="633168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D57938-C055-E46E-5988-42C0CA94F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" y="2232"/>
            <a:ext cx="10080625" cy="7772400"/>
          </a:xfrm>
          <a:prstGeom prst="rect">
            <a:avLst/>
          </a:prstGeom>
          <a:blipFill dpi="0" rotWithShape="1">
            <a:blip r:embed="rId4">
              <a:alphaModFix amt="35000"/>
            </a:blip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DC618E-76B1-2459-B775-EA8DF6FE76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pic>
        <p:nvPicPr>
          <p:cNvPr id="9" name="Picture 8" descr="Add Ons Men at Infiniti Mall - Malad in Mumbai">
            <a:extLst>
              <a:ext uri="{FF2B5EF4-FFF2-40B4-BE49-F238E27FC236}">
                <a16:creationId xmlns:a16="http://schemas.microsoft.com/office/drawing/2014/main" id="{4A8212C9-558E-16C3-FFC9-CD56FBBCB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40" y="3925724"/>
            <a:ext cx="3490522" cy="2209336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Add Ons Men at Infiniti Mall - Malad in Mumbai">
            <a:extLst>
              <a:ext uri="{FF2B5EF4-FFF2-40B4-BE49-F238E27FC236}">
                <a16:creationId xmlns:a16="http://schemas.microsoft.com/office/drawing/2014/main" id="{97C84782-6717-EF3D-E84F-C81004E44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545" y="1322789"/>
            <a:ext cx="3490522" cy="2209336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Front view of Addons. - Addons Men (Korum Mall) Images, Jk Gram-Thane West, Mumbai - Cap Retailers">
            <a:extLst>
              <a:ext uri="{FF2B5EF4-FFF2-40B4-BE49-F238E27FC236}">
                <a16:creationId xmlns:a16="http://schemas.microsoft.com/office/drawing/2014/main" id="{F785BCB9-4A0F-9F6C-7E2C-915E81EB9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6256" y="1318838"/>
            <a:ext cx="2955632" cy="2209336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 - Addons Men (Korum Mall) Images, Jk Gram-Thane West, Mumbai - Cap Retailers">
            <a:extLst>
              <a:ext uri="{FF2B5EF4-FFF2-40B4-BE49-F238E27FC236}">
                <a16:creationId xmlns:a16="http://schemas.microsoft.com/office/drawing/2014/main" id="{515D161C-4A05-4C63-32A1-C5BBB29F7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6256" y="3959406"/>
            <a:ext cx="2945783" cy="2209337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0B2503-F6F6-248F-F26E-06E6CE71F163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PROJECTS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12545B-3018-82A6-FBCF-84D4E7411397}"/>
              </a:ext>
            </a:extLst>
          </p:cNvPr>
          <p:cNvSpPr txBox="1"/>
          <p:nvPr/>
        </p:nvSpPr>
        <p:spPr>
          <a:xfrm>
            <a:off x="7704609" y="1077888"/>
            <a:ext cx="2348613" cy="606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u="sng" dirty="0">
                <a:cs typeface="Trebuchet MS"/>
              </a:rPr>
              <a:t>ADD ONS –Men and Women </a:t>
            </a:r>
            <a:r>
              <a:rPr lang="en-US" sz="2000" dirty="0">
                <a:cs typeface="Trebuchet MS"/>
              </a:rPr>
              <a:t>Accessory store. </a:t>
            </a:r>
          </a:p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dirty="0"/>
              <a:t>Store design concept creating an inviting ambiance that complements the diverse array of accessories on display.</a:t>
            </a:r>
          </a:p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dirty="0"/>
              <a:t>The store is to enhance the browsing experience with display strategically placed to create distinct sections for different accessory categories.</a:t>
            </a:r>
          </a:p>
        </p:txBody>
      </p:sp>
    </p:spTree>
    <p:extLst>
      <p:ext uri="{BB962C8B-B14F-4D97-AF65-F5344CB8AC3E}">
        <p14:creationId xmlns:p14="http://schemas.microsoft.com/office/powerpoint/2010/main" val="4136792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57938-C055-E46E-5988-42C0CA94F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" y="2232"/>
            <a:ext cx="10080625" cy="77724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DC618E-76B1-2459-B775-EA8DF6FE7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pic>
        <p:nvPicPr>
          <p:cNvPr id="3" name="Picture 2" descr="ABOUT US… Addons Women is an accessory brand, A retail initiative by Addon  Retail Pvt. Ltd. Currently we are present in the following cities:-  Ahmedabad. - ppt download">
            <a:extLst>
              <a:ext uri="{FF2B5EF4-FFF2-40B4-BE49-F238E27FC236}">
                <a16:creationId xmlns:a16="http://schemas.microsoft.com/office/drawing/2014/main" id="{18429C4E-DB92-3EB2-A581-D588D409C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649" y="1355260"/>
            <a:ext cx="3820391" cy="2865293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ABOUT US… Addons Women is an accessory brand, A retail initiative by Addon  Retail Pvt. Ltd. Currently we are present in the following cities:-  Ahmedabad. - ppt download">
            <a:extLst>
              <a:ext uri="{FF2B5EF4-FFF2-40B4-BE49-F238E27FC236}">
                <a16:creationId xmlns:a16="http://schemas.microsoft.com/office/drawing/2014/main" id="{511EA250-82CC-213C-4BD4-994E59C9C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122" y="1355260"/>
            <a:ext cx="3714750" cy="2786063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Addons Retail Pvt Ltd | Footwear Showrooms in Bangalore | Freelanz Blogger  | Local search engine in bangalore | Freelanz IT Solutions | Article |  Business | Local Search Engine in Bangalore, Karnataka, India">
            <a:extLst>
              <a:ext uri="{FF2B5EF4-FFF2-40B4-BE49-F238E27FC236}">
                <a16:creationId xmlns:a16="http://schemas.microsoft.com/office/drawing/2014/main" id="{51B92015-40C0-F355-F789-7FB3D98F6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458" y="4370789"/>
            <a:ext cx="3754582" cy="2665083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 descr="ABOUT US… Addons Women is an accessory brand, A retail initiative by Addon  Retail Pvt. Ltd. Currently we are present in the following cities:-  Ahmedabad. - ppt download">
            <a:extLst>
              <a:ext uri="{FF2B5EF4-FFF2-40B4-BE49-F238E27FC236}">
                <a16:creationId xmlns:a16="http://schemas.microsoft.com/office/drawing/2014/main" id="{80EB76B4-6FC2-D17D-2D46-2B2730FC8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122" y="4370789"/>
            <a:ext cx="3529445" cy="2647085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CACD7C-F0AD-BD7B-938B-044801C72E73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PROJECTS</a:t>
            </a:r>
          </a:p>
        </p:txBody>
      </p:sp>
    </p:spTree>
    <p:extLst>
      <p:ext uri="{BB962C8B-B14F-4D97-AF65-F5344CB8AC3E}">
        <p14:creationId xmlns:p14="http://schemas.microsoft.com/office/powerpoint/2010/main" val="1432186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65395C8-D6FD-D8B0-D6D7-43E714BC3B0C}"/>
              </a:ext>
            </a:extLst>
          </p:cNvPr>
          <p:cNvSpPr/>
          <p:nvPr/>
        </p:nvSpPr>
        <p:spPr>
          <a:xfrm>
            <a:off x="7875858" y="1057351"/>
            <a:ext cx="2054577" cy="633168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D57938-C055-E46E-5988-42C0CA94F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" y="2232"/>
            <a:ext cx="10080625" cy="7772400"/>
          </a:xfrm>
          <a:prstGeom prst="rect">
            <a:avLst/>
          </a:prstGeom>
          <a:blipFill dpi="0" rotWithShape="1">
            <a:blip r:embed="rId3">
              <a:alphaModFix amt="35000"/>
            </a:blip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DC618E-76B1-2459-B775-EA8DF6FE7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pic>
        <p:nvPicPr>
          <p:cNvPr id="3" name="Picture 2" descr="D:\docket\Lenin Store\final views\7-Sep-18\View 12.jpg">
            <a:extLst>
              <a:ext uri="{FF2B5EF4-FFF2-40B4-BE49-F238E27FC236}">
                <a16:creationId xmlns:a16="http://schemas.microsoft.com/office/drawing/2014/main" id="{C8D0E095-1B4B-0D28-2DF0-AFE184FE3F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0" t="15986" r="1760" b="17607"/>
          <a:stretch/>
        </p:blipFill>
        <p:spPr bwMode="auto">
          <a:xfrm>
            <a:off x="776745" y="1636646"/>
            <a:ext cx="3647353" cy="2016224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D:\docket\Lenin Store\final views\7-Sep-18\View 08.jpg">
            <a:extLst>
              <a:ext uri="{FF2B5EF4-FFF2-40B4-BE49-F238E27FC236}">
                <a16:creationId xmlns:a16="http://schemas.microsoft.com/office/drawing/2014/main" id="{DCBA7B58-30EC-A6D3-0780-1153C7E08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39" y="4119530"/>
            <a:ext cx="3647353" cy="2432329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:\docket\Lenin Store\final views\7-Sep-18\View 11.jpg">
            <a:extLst>
              <a:ext uri="{FF2B5EF4-FFF2-40B4-BE49-F238E27FC236}">
                <a16:creationId xmlns:a16="http://schemas.microsoft.com/office/drawing/2014/main" id="{4B86B330-7BA6-022E-3C8F-5EDCD01C1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272" y="1667022"/>
            <a:ext cx="3023732" cy="2016224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5" descr="D:\docket\Lenin Store\final views\7-Sep-18\View 10.jpg">
            <a:extLst>
              <a:ext uri="{FF2B5EF4-FFF2-40B4-BE49-F238E27FC236}">
                <a16:creationId xmlns:a16="http://schemas.microsoft.com/office/drawing/2014/main" id="{579C3E19-58F4-3385-A6ED-CE3A3AD96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272" y="4121658"/>
            <a:ext cx="3023732" cy="2016224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2F4C90-9910-49DB-5D51-C12C830E6F2E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CREATIONS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CEDD71-5095-5876-46B3-473763402ACE}"/>
              </a:ext>
            </a:extLst>
          </p:cNvPr>
          <p:cNvSpPr txBox="1"/>
          <p:nvPr/>
        </p:nvSpPr>
        <p:spPr>
          <a:xfrm>
            <a:off x="7800761" y="1077888"/>
            <a:ext cx="2279863" cy="4157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u="sng" dirty="0">
                <a:cs typeface="Trebuchet MS"/>
              </a:rPr>
              <a:t>LINEN store design. </a:t>
            </a:r>
          </a:p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dirty="0"/>
              <a:t>Boutique's interior design reflects the brand's ethos, Rich textures, muted tones, and bespoke furnishings create an ambiance that resonates with the discerning taste of brand</a:t>
            </a:r>
          </a:p>
        </p:txBody>
      </p:sp>
    </p:spTree>
    <p:extLst>
      <p:ext uri="{BB962C8B-B14F-4D97-AF65-F5344CB8AC3E}">
        <p14:creationId xmlns:p14="http://schemas.microsoft.com/office/powerpoint/2010/main" val="282699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57938-C055-E46E-5988-42C0CA94F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" y="-2232"/>
            <a:ext cx="10080625" cy="7772400"/>
          </a:xfrm>
          <a:prstGeom prst="rect">
            <a:avLst/>
          </a:prstGeom>
          <a:blipFill dpi="0" rotWithShape="1">
            <a:blip r:embed="rId4">
              <a:alphaModFix amt="35000"/>
            </a:blip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DC618E-76B1-2459-B775-EA8DF6FE76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C8D574-8E76-899A-0326-6C4E433AB21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1593" y="1687216"/>
            <a:ext cx="4267199" cy="244926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1F3F8E-FC5A-056D-DFA2-1F53CB75FDC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595" y="1687215"/>
            <a:ext cx="4267198" cy="240029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9E5623-1361-3AA1-E4CE-07E45FB18E3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93" y="4506615"/>
            <a:ext cx="4267199" cy="254793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1C3A6A-F3EA-6CE3-8948-D9AF3B7E9175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3" r="7061"/>
          <a:stretch/>
        </p:blipFill>
        <p:spPr>
          <a:xfrm rot="5400000">
            <a:off x="4721673" y="4839079"/>
            <a:ext cx="2706782" cy="196294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6697F2-2CE8-000D-4A6D-E7ECDF3E3DA7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5" r="17495"/>
          <a:stretch/>
        </p:blipFill>
        <p:spPr>
          <a:xfrm rot="5400000">
            <a:off x="6938154" y="4751301"/>
            <a:ext cx="2711675" cy="213360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14EB00-0AAF-C91D-2721-E786D9EF4C89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CREATIONS</a:t>
            </a:r>
          </a:p>
        </p:txBody>
      </p:sp>
    </p:spTree>
    <p:extLst>
      <p:ext uri="{BB962C8B-B14F-4D97-AF65-F5344CB8AC3E}">
        <p14:creationId xmlns:p14="http://schemas.microsoft.com/office/powerpoint/2010/main" val="23728977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57938-C055-E46E-5988-42C0CA94F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403" y="-31109"/>
            <a:ext cx="10080625" cy="7772400"/>
          </a:xfrm>
          <a:prstGeom prst="rect">
            <a:avLst/>
          </a:prstGeom>
          <a:blipFill dpi="0" rotWithShape="1">
            <a:blip r:embed="rId4">
              <a:alphaModFix amt="35000"/>
            </a:blip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DC618E-76B1-2459-B775-EA8DF6FE76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D4EDA8-B4B7-BDAB-0D30-9CA3FF04AFA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82233" y="4678289"/>
            <a:ext cx="3362033" cy="241546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" name="Picture 3" descr="D:\Raymond\West\Tailoring Hub\Maap store\Final Views\18.jpg">
            <a:extLst>
              <a:ext uri="{FF2B5EF4-FFF2-40B4-BE49-F238E27FC236}">
                <a16:creationId xmlns:a16="http://schemas.microsoft.com/office/drawing/2014/main" id="{B83EB784-F5AD-6DD9-AC50-8CB6C9FDB8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88" t="-629" r="13527" b="1"/>
          <a:stretch/>
        </p:blipFill>
        <p:spPr bwMode="auto">
          <a:xfrm>
            <a:off x="791839" y="1326721"/>
            <a:ext cx="3294665" cy="2397703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28751C-6129-F47E-9441-8CCB98E41371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3401" y="4047976"/>
            <a:ext cx="2514600" cy="314325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0B6234-C005-665E-C19C-EA0D1CEF3D2B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9666" y="1326721"/>
            <a:ext cx="2514600" cy="31432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D3049D-3394-5250-101E-DEDD13AA35CA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CREATIONS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B69783-B38C-3BE1-0065-9E5D6DCABEF9}"/>
              </a:ext>
            </a:extLst>
          </p:cNvPr>
          <p:cNvSpPr/>
          <p:nvPr/>
        </p:nvSpPr>
        <p:spPr>
          <a:xfrm>
            <a:off x="7776616" y="1057351"/>
            <a:ext cx="2054577" cy="633168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F9404-6096-8AB4-A59C-E3CE022C8A7C}"/>
              </a:ext>
            </a:extLst>
          </p:cNvPr>
          <p:cNvSpPr txBox="1"/>
          <p:nvPr/>
        </p:nvSpPr>
        <p:spPr>
          <a:xfrm>
            <a:off x="7908764" y="1293912"/>
            <a:ext cx="2054577" cy="5760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u="sng" dirty="0">
                <a:cs typeface="Trebuchet MS"/>
              </a:rPr>
              <a:t>TAILORING- Concept Design</a:t>
            </a:r>
          </a:p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dirty="0"/>
              <a:t>Store designed wherein art of tailoring meets personalized craftsmanship.</a:t>
            </a:r>
          </a:p>
          <a:p>
            <a:pPr marL="12700" marR="10795" indent="148590">
              <a:lnSpc>
                <a:spcPct val="100000"/>
              </a:lnSpc>
              <a:spcBef>
                <a:spcPts val="464"/>
              </a:spcBef>
              <a:buChar char="•"/>
              <a:tabLst>
                <a:tab pos="161290" algn="l"/>
              </a:tabLst>
            </a:pPr>
            <a:r>
              <a:rPr lang="en-US" sz="2000" dirty="0"/>
              <a:t> Compact space  provides an elegance and impeccable attention to detail where in the craftsman display is exposed to consumers interests.</a:t>
            </a:r>
          </a:p>
        </p:txBody>
      </p:sp>
    </p:spTree>
    <p:extLst>
      <p:ext uri="{BB962C8B-B14F-4D97-AF65-F5344CB8AC3E}">
        <p14:creationId xmlns:p14="http://schemas.microsoft.com/office/powerpoint/2010/main" val="2474750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57938-C055-E46E-5988-42C0CA94F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" y="-2232"/>
            <a:ext cx="10080625" cy="77724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76200"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DC618E-76B1-2459-B775-EA8DF6FE7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4" y="213792"/>
            <a:ext cx="902698" cy="864096"/>
          </a:xfrm>
          <a:prstGeom prst="rect">
            <a:avLst/>
          </a:prstGeom>
        </p:spPr>
      </p:pic>
      <p:pic>
        <p:nvPicPr>
          <p:cNvPr id="9" name="Picture 2" descr="D:\Raymond\West\Tailoring Hub\Maap store\Final Views\18.jpg">
            <a:extLst>
              <a:ext uri="{FF2B5EF4-FFF2-40B4-BE49-F238E27FC236}">
                <a16:creationId xmlns:a16="http://schemas.microsoft.com/office/drawing/2014/main" id="{BB76796C-BBB1-DE6F-5449-AFA735C0C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040" y="1299607"/>
            <a:ext cx="4491666" cy="2799307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7549EE-CFAC-DDF4-203B-021F3F062A3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4177" y="4376572"/>
            <a:ext cx="3851128" cy="25393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162E3E-4D9B-66AD-8E05-B0F2E72D57D9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4696" y="4381269"/>
            <a:ext cx="3800141" cy="253469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847E12-3647-DD84-1E15-737414CE2ED3}"/>
              </a:ext>
            </a:extLst>
          </p:cNvPr>
          <p:cNvSpPr txBox="1"/>
          <p:nvPr/>
        </p:nvSpPr>
        <p:spPr>
          <a:xfrm>
            <a:off x="1478266" y="344415"/>
            <a:ext cx="4331674" cy="584775"/>
          </a:xfrm>
          <a:prstGeom prst="rect">
            <a:avLst/>
          </a:prstGeom>
          <a:solidFill>
            <a:srgbClr val="CCCC00">
              <a:alpha val="29020"/>
            </a:srgb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OUR CREATIONS</a:t>
            </a:r>
          </a:p>
        </p:txBody>
      </p:sp>
    </p:spTree>
    <p:extLst>
      <p:ext uri="{BB962C8B-B14F-4D97-AF65-F5344CB8AC3E}">
        <p14:creationId xmlns:p14="http://schemas.microsoft.com/office/powerpoint/2010/main" val="4209330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F3A4508-A74C-ED23-B121-773D6840B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152" y="3175557"/>
            <a:ext cx="2458320" cy="2353194"/>
          </a:xfrm>
          <a:prstGeom prst="rect">
            <a:avLst/>
          </a:prstGeom>
        </p:spPr>
      </p:pic>
      <p:sp>
        <p:nvSpPr>
          <p:cNvPr id="12" name="object 2">
            <a:extLst>
              <a:ext uri="{FF2B5EF4-FFF2-40B4-BE49-F238E27FC236}">
                <a16:creationId xmlns:a16="http://schemas.microsoft.com/office/drawing/2014/main" id="{C2F7CCB9-A62F-FD3D-176C-09BC61E623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15976" y="6108872"/>
            <a:ext cx="756084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lang="en-IN" sz="2000" dirty="0">
                <a:latin typeface="+mn-lt"/>
                <a:cs typeface="Trebuchet MS"/>
              </a:rPr>
              <a:t>Address: Sierra-907,</a:t>
            </a:r>
            <a:r>
              <a:rPr lang="en-IN" sz="2000" spc="-220" dirty="0">
                <a:latin typeface="+mn-lt"/>
                <a:cs typeface="Trebuchet MS"/>
              </a:rPr>
              <a:t> </a:t>
            </a:r>
            <a:r>
              <a:rPr lang="en-IN" sz="2000" dirty="0" err="1">
                <a:latin typeface="+mn-lt"/>
                <a:cs typeface="Trebuchet MS"/>
              </a:rPr>
              <a:t>Joyvile</a:t>
            </a:r>
            <a:r>
              <a:rPr lang="en-IN" sz="2000" dirty="0">
                <a:latin typeface="+mn-lt"/>
                <a:cs typeface="Trebuchet MS"/>
              </a:rPr>
              <a:t>,</a:t>
            </a:r>
            <a:r>
              <a:rPr lang="en-IN" sz="2000" spc="-155" dirty="0">
                <a:latin typeface="+mn-lt"/>
                <a:cs typeface="Trebuchet MS"/>
              </a:rPr>
              <a:t> </a:t>
            </a:r>
            <a:r>
              <a:rPr lang="en-IN" sz="2000" spc="65" dirty="0" err="1">
                <a:latin typeface="+mn-lt"/>
                <a:cs typeface="Trebuchet MS"/>
              </a:rPr>
              <a:t>Mulshi</a:t>
            </a:r>
            <a:r>
              <a:rPr lang="en-IN" sz="2000" spc="-50" dirty="0">
                <a:latin typeface="+mn-lt"/>
                <a:cs typeface="Trebuchet MS"/>
              </a:rPr>
              <a:t> </a:t>
            </a:r>
            <a:r>
              <a:rPr lang="en-IN" sz="2000" dirty="0">
                <a:latin typeface="+mn-lt"/>
                <a:cs typeface="Trebuchet MS"/>
              </a:rPr>
              <a:t>Pune,</a:t>
            </a:r>
            <a:r>
              <a:rPr lang="en-IN" sz="2000" spc="-155" dirty="0">
                <a:latin typeface="+mn-lt"/>
                <a:cs typeface="Trebuchet MS"/>
              </a:rPr>
              <a:t> </a:t>
            </a:r>
            <a:r>
              <a:rPr lang="en-IN" sz="2000" spc="90" dirty="0" err="1">
                <a:latin typeface="+mn-lt"/>
                <a:cs typeface="Trebuchet MS"/>
              </a:rPr>
              <a:t>Maharastra</a:t>
            </a:r>
            <a:r>
              <a:rPr lang="en-IN" sz="2000" spc="-45" dirty="0">
                <a:latin typeface="+mn-lt"/>
                <a:cs typeface="Trebuchet MS"/>
              </a:rPr>
              <a:t> </a:t>
            </a:r>
            <a:r>
              <a:rPr lang="en-IN" sz="2000" dirty="0">
                <a:latin typeface="+mn-lt"/>
                <a:cs typeface="Trebuchet MS"/>
              </a:rPr>
              <a:t>-</a:t>
            </a:r>
            <a:r>
              <a:rPr lang="en-IN" sz="2000" spc="-45" dirty="0">
                <a:latin typeface="+mn-lt"/>
                <a:cs typeface="Trebuchet MS"/>
              </a:rPr>
              <a:t> </a:t>
            </a:r>
            <a:r>
              <a:rPr lang="en-IN" sz="2000" spc="-25" dirty="0">
                <a:latin typeface="+mn-lt"/>
                <a:cs typeface="Trebuchet MS"/>
              </a:rPr>
              <a:t>411057.</a:t>
            </a:r>
            <a:br>
              <a:rPr lang="en-IN" sz="2000" dirty="0">
                <a:latin typeface="+mn-lt"/>
                <a:cs typeface="Trebuchet MS"/>
              </a:rPr>
            </a:br>
            <a:r>
              <a:rPr lang="en-IN" sz="2000" spc="50" dirty="0">
                <a:latin typeface="+mn-lt"/>
                <a:cs typeface="Trebuchet MS"/>
              </a:rPr>
              <a:t>Email</a:t>
            </a:r>
            <a:r>
              <a:rPr lang="en-IN" sz="2000" spc="-120" dirty="0">
                <a:latin typeface="+mn-lt"/>
                <a:cs typeface="Trebuchet MS"/>
              </a:rPr>
              <a:t> </a:t>
            </a:r>
            <a:r>
              <a:rPr lang="en-IN" sz="2000" spc="-165" dirty="0">
                <a:latin typeface="+mn-lt"/>
                <a:cs typeface="Trebuchet MS"/>
              </a:rPr>
              <a:t>:</a:t>
            </a:r>
            <a:r>
              <a:rPr lang="en-IN" sz="2000" spc="-120" dirty="0">
                <a:latin typeface="+mn-lt"/>
                <a:cs typeface="Trebuchet MS"/>
              </a:rPr>
              <a:t> </a:t>
            </a:r>
            <a:r>
              <a:rPr lang="en-IN" sz="2000" spc="55" dirty="0">
                <a:latin typeface="+mn-lt"/>
                <a:cs typeface="Trebuchet MS"/>
                <a:hlinkClick r:id="rId3"/>
              </a:rPr>
              <a:t>delineate07@gmail.com</a:t>
            </a:r>
            <a:r>
              <a:rPr lang="en-IN" sz="2000" spc="-120" dirty="0">
                <a:latin typeface="+mn-lt"/>
                <a:cs typeface="Trebuchet MS"/>
              </a:rPr>
              <a:t> </a:t>
            </a:r>
            <a:br>
              <a:rPr lang="en-IN" sz="2000" spc="-120" dirty="0">
                <a:latin typeface="+mn-lt"/>
                <a:cs typeface="Trebuchet MS"/>
              </a:rPr>
            </a:br>
            <a:r>
              <a:rPr lang="en-IN" sz="2000" spc="55" dirty="0">
                <a:latin typeface="+mn-lt"/>
                <a:cs typeface="Trebuchet MS"/>
              </a:rPr>
              <a:t>Contact</a:t>
            </a:r>
            <a:r>
              <a:rPr lang="en-IN" sz="2000" spc="-120" dirty="0">
                <a:latin typeface="+mn-lt"/>
                <a:cs typeface="Trebuchet MS"/>
              </a:rPr>
              <a:t> </a:t>
            </a:r>
            <a:r>
              <a:rPr lang="en-IN" sz="2000" spc="-165" dirty="0">
                <a:latin typeface="+mn-lt"/>
                <a:cs typeface="Trebuchet MS"/>
              </a:rPr>
              <a:t>:</a:t>
            </a:r>
            <a:r>
              <a:rPr lang="en-IN" sz="2000" spc="-120" dirty="0">
                <a:latin typeface="+mn-lt"/>
                <a:cs typeface="Trebuchet MS"/>
              </a:rPr>
              <a:t> </a:t>
            </a:r>
            <a:r>
              <a:rPr lang="en-IN" sz="2000" spc="125" dirty="0">
                <a:latin typeface="+mn-lt"/>
                <a:cs typeface="Trebuchet MS"/>
              </a:rPr>
              <a:t>9008304876</a:t>
            </a:r>
            <a:endParaRPr lang="en-IN" sz="2000" dirty="0">
              <a:latin typeface="+mn-lt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74E305-7EEE-5642-4CDE-907A96135876}"/>
              </a:ext>
            </a:extLst>
          </p:cNvPr>
          <p:cNvSpPr txBox="1"/>
          <p:nvPr/>
        </p:nvSpPr>
        <p:spPr>
          <a:xfrm>
            <a:off x="3271975" y="1662530"/>
            <a:ext cx="35366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THANK YOU</a:t>
            </a:r>
            <a:endParaRPr lang="en-IN" sz="5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B7C5C4-F2A7-79CA-BBEE-E3E2B290C692}"/>
              </a:ext>
            </a:extLst>
          </p:cNvPr>
          <p:cNvSpPr/>
          <p:nvPr/>
        </p:nvSpPr>
        <p:spPr>
          <a:xfrm>
            <a:off x="0" y="0"/>
            <a:ext cx="10080625" cy="7772400"/>
          </a:xfrm>
          <a:prstGeom prst="rect">
            <a:avLst/>
          </a:prstGeom>
          <a:noFill/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04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959</TotalTime>
  <Words>704</Words>
  <Application>Microsoft Office PowerPoint</Application>
  <PresentationFormat>Custom</PresentationFormat>
  <Paragraphs>85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Trebuchet MS</vt:lpstr>
      <vt:lpstr>Office Theme</vt:lpstr>
      <vt:lpstr>SPACE DESIGNERS WITH PRECISION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Address: Sierra-907, Joyvile, Mulshi Pune, Maharastra - 411057. Email : delineate07@gmail.com  Contact : 9008304876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Madhavi Desai</dc:creator>
  <cp:lastModifiedBy>Madhavi Desai</cp:lastModifiedBy>
  <cp:revision>67</cp:revision>
  <cp:lastPrinted>2024-10-14T13:03:04Z</cp:lastPrinted>
  <dcterms:created xsi:type="dcterms:W3CDTF">2023-12-03T11:32:00Z</dcterms:created>
  <dcterms:modified xsi:type="dcterms:W3CDTF">2025-12-12T08:56:23Z</dcterms:modified>
</cp:coreProperties>
</file>